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Arimo" charset="1" panose="020B0604020202020204"/>
      <p:regular r:id="rId49"/>
    </p:embeddedFont>
    <p:embeddedFont>
      <p:font typeface="Arimo Bold" charset="1" panose="020B0704020202020204"/>
      <p:regular r:id="rId50"/>
    </p:embeddedFont>
    <p:embeddedFont>
      <p:font typeface="Canva Sans Bold" charset="1" panose="020B0803030501040103"/>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notesMasters/notesMaster1.xml" Type="http://schemas.openxmlformats.org/officeDocument/2006/relationships/notesMaster"/><Relationship Id="rId47" Target="theme/theme2.xml" Type="http://schemas.openxmlformats.org/officeDocument/2006/relationships/theme"/><Relationship Id="rId48" Target="notesSlides/notesSlide1.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notesSlides/notesSlide2.xml" Type="http://schemas.openxmlformats.org/officeDocument/2006/relationships/notesSlide"/><Relationship Id="rId52" Target="notesSlides/notesSlide3.xml" Type="http://schemas.openxmlformats.org/officeDocument/2006/relationships/notesSlide"/><Relationship Id="rId53" Target="notesSlides/notesSlide4.xml" Type="http://schemas.openxmlformats.org/officeDocument/2006/relationships/notesSlide"/><Relationship Id="rId54" Target="fonts/font54.fntdata" Type="http://schemas.openxmlformats.org/officeDocument/2006/relationships/font"/><Relationship Id="rId55" Target="notesSlides/notesSlide5.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notesSlides/notesSlide3.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25.png" Type="http://schemas.openxmlformats.org/officeDocument/2006/relationships/image"/><Relationship Id="rId5" Target="../media/image26.jpeg" Type="http://schemas.openxmlformats.org/officeDocument/2006/relationships/image"/><Relationship Id="rId6"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png" Type="http://schemas.openxmlformats.org/officeDocument/2006/relationships/image"/><Relationship Id="rId11" Target="../media/image58.svg" Type="http://schemas.openxmlformats.org/officeDocument/2006/relationships/image"/><Relationship Id="rId12" Target="../media/image59.png" Type="http://schemas.openxmlformats.org/officeDocument/2006/relationships/image"/><Relationship Id="rId13" Target="../media/image60.svg" Type="http://schemas.openxmlformats.org/officeDocument/2006/relationships/image"/><Relationship Id="rId14" Target="../media/image61.png" Type="http://schemas.openxmlformats.org/officeDocument/2006/relationships/image"/><Relationship Id="rId15" Target="../media/image62.svg" Type="http://schemas.openxmlformats.org/officeDocument/2006/relationships/image"/><Relationship Id="rId2" Target="../notesSlides/notesSlide5.xml" Type="http://schemas.openxmlformats.org/officeDocument/2006/relationships/notesSlide"/><Relationship Id="rId3" Target="https://gamma.app/?utm_source=made-with-gamma" TargetMode="External" Type="http://schemas.openxmlformats.org/officeDocument/2006/relationships/hyperlink"/><Relationship Id="rId4" Target="../media/image25.png" Type="http://schemas.openxmlformats.org/officeDocument/2006/relationships/image"/><Relationship Id="rId5" Target="../media/image52.jpe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jpeg" Type="http://schemas.openxmlformats.org/officeDocument/2006/relationships/image"/><Relationship Id="rId9" Target="../media/image5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1C064"/>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6EBD4"/>
            </a:solidFill>
          </p:spPr>
        </p:sp>
      </p:grpSp>
      <p:grpSp>
        <p:nvGrpSpPr>
          <p:cNvPr name="Group 6" id="6"/>
          <p:cNvGrpSpPr/>
          <p:nvPr/>
        </p:nvGrpSpPr>
        <p:grpSpPr>
          <a:xfrm rot="0">
            <a:off x="0" y="0"/>
            <a:ext cx="7206329" cy="10295001"/>
            <a:chOff x="0" y="0"/>
            <a:chExt cx="9608439" cy="13726668"/>
          </a:xfrm>
        </p:grpSpPr>
        <p:sp>
          <p:nvSpPr>
            <p:cNvPr name="Freeform 7" id="7"/>
            <p:cNvSpPr/>
            <p:nvPr/>
          </p:nvSpPr>
          <p:spPr>
            <a:xfrm flipH="false" flipV="false" rot="0">
              <a:off x="0" y="0"/>
              <a:ext cx="9608439" cy="13726668"/>
            </a:xfrm>
            <a:custGeom>
              <a:avLst/>
              <a:gdLst/>
              <a:ahLst/>
              <a:cxnLst/>
              <a:rect r="r" b="b" t="t" l="l"/>
              <a:pathLst>
                <a:path h="13726668" w="9608439">
                  <a:moveTo>
                    <a:pt x="0" y="0"/>
                  </a:moveTo>
                  <a:lnTo>
                    <a:pt x="9608439" y="0"/>
                  </a:lnTo>
                  <a:lnTo>
                    <a:pt x="9608439" y="13726668"/>
                  </a:lnTo>
                  <a:lnTo>
                    <a:pt x="0" y="13726668"/>
                  </a:lnTo>
                  <a:lnTo>
                    <a:pt x="0" y="0"/>
                  </a:lnTo>
                  <a:close/>
                </a:path>
              </a:pathLst>
            </a:custGeom>
            <a:blipFill>
              <a:blip r:embed="rId3"/>
              <a:stretch>
                <a:fillRect l="-29" t="0" r="-29" b="0"/>
              </a:stretch>
            </a:blipFill>
          </p:spPr>
        </p:sp>
      </p:grpSp>
      <p:sp>
        <p:nvSpPr>
          <p:cNvPr name="TextBox 8" id="8"/>
          <p:cNvSpPr txBox="true"/>
          <p:nvPr/>
        </p:nvSpPr>
        <p:spPr>
          <a:xfrm rot="0">
            <a:off x="7856182" y="2263302"/>
            <a:ext cx="9452677" cy="2774299"/>
          </a:xfrm>
          <a:prstGeom prst="rect">
            <a:avLst/>
          </a:prstGeom>
        </p:spPr>
        <p:txBody>
          <a:bodyPr anchor="t" rtlCol="false" tIns="0" lIns="0" bIns="0" rIns="0">
            <a:spAutoFit/>
          </a:bodyPr>
          <a:lstStyle/>
          <a:p>
            <a:pPr algn="l">
              <a:lnSpc>
                <a:spcPts val="6931"/>
              </a:lnSpc>
            </a:pPr>
            <a:r>
              <a:rPr lang="en-US" sz="5553">
                <a:solidFill>
                  <a:srgbClr val="403011"/>
                </a:solidFill>
                <a:latin typeface="Arimo"/>
                <a:ea typeface="Arimo"/>
                <a:cs typeface="Arimo"/>
                <a:sym typeface="Arimo"/>
              </a:rPr>
              <a:t>AI &amp; Machine Learning Based Intelligent Learning Platform</a:t>
            </a:r>
          </a:p>
        </p:txBody>
      </p:sp>
      <p:sp>
        <p:nvSpPr>
          <p:cNvPr name="TextBox 9" id="9"/>
          <p:cNvSpPr txBox="true"/>
          <p:nvPr/>
        </p:nvSpPr>
        <p:spPr>
          <a:xfrm rot="0">
            <a:off x="7856182" y="5272640"/>
            <a:ext cx="9452677" cy="2644807"/>
          </a:xfrm>
          <a:prstGeom prst="rect">
            <a:avLst/>
          </a:prstGeom>
        </p:spPr>
        <p:txBody>
          <a:bodyPr anchor="t" rtlCol="false" tIns="0" lIns="0" bIns="0" rIns="0">
            <a:spAutoFit/>
          </a:bodyPr>
          <a:lstStyle/>
          <a:p>
            <a:pPr algn="l">
              <a:lnSpc>
                <a:spcPts val="3474"/>
              </a:lnSpc>
            </a:pPr>
            <a:r>
              <a:rPr lang="en-US" sz="2175">
                <a:solidFill>
                  <a:srgbClr val="403011"/>
                </a:solidFill>
                <a:latin typeface="Arimo"/>
                <a:ea typeface="Arimo"/>
                <a:cs typeface="Arimo"/>
                <a:sym typeface="Arimo"/>
              </a:rPr>
              <a:t>Project Review – I</a:t>
            </a:r>
          </a:p>
          <a:p>
            <a:pPr algn="l">
              <a:lnSpc>
                <a:spcPts val="3474"/>
              </a:lnSpc>
            </a:pPr>
            <a:r>
              <a:rPr lang="en-US" sz="2175" b="true">
                <a:solidFill>
                  <a:srgbClr val="403011"/>
                </a:solidFill>
                <a:latin typeface="Arimo Bold"/>
                <a:ea typeface="Arimo Bold"/>
                <a:cs typeface="Arimo Bold"/>
                <a:sym typeface="Arimo Bold"/>
              </a:rPr>
              <a:t>Presented by:</a:t>
            </a:r>
            <a:r>
              <a:rPr lang="en-US" sz="2175">
                <a:solidFill>
                  <a:srgbClr val="403011"/>
                </a:solidFill>
                <a:latin typeface="Arimo"/>
                <a:ea typeface="Arimo"/>
                <a:cs typeface="Arimo"/>
                <a:sym typeface="Arimo"/>
              </a:rPr>
              <a:t> AKASH SANKAR • </a:t>
            </a:r>
            <a:r>
              <a:rPr lang="en-US" sz="2175" b="true">
                <a:solidFill>
                  <a:srgbClr val="403011"/>
                </a:solidFill>
                <a:latin typeface="Arimo Bold"/>
                <a:ea typeface="Arimo Bold"/>
                <a:cs typeface="Arimo Bold"/>
                <a:sym typeface="Arimo Bold"/>
              </a:rPr>
              <a:t>Roll No.:</a:t>
            </a:r>
            <a:r>
              <a:rPr lang="en-US" sz="2175">
                <a:solidFill>
                  <a:srgbClr val="403011"/>
                </a:solidFill>
                <a:latin typeface="Arimo"/>
                <a:ea typeface="Arimo"/>
                <a:cs typeface="Arimo"/>
                <a:sym typeface="Arimo"/>
              </a:rPr>
              <a:t> 5</a:t>
            </a:r>
          </a:p>
          <a:p>
            <a:pPr algn="l">
              <a:lnSpc>
                <a:spcPts val="3474"/>
              </a:lnSpc>
            </a:pPr>
            <a:r>
              <a:rPr lang="en-US" sz="2175" b="true">
                <a:solidFill>
                  <a:srgbClr val="403011"/>
                </a:solidFill>
                <a:latin typeface="Arimo Bold"/>
                <a:ea typeface="Arimo Bold"/>
                <a:cs typeface="Arimo Bold"/>
                <a:sym typeface="Arimo Bold"/>
              </a:rPr>
              <a:t>Guided by:</a:t>
            </a:r>
            <a:r>
              <a:rPr lang="en-US" sz="2175">
                <a:solidFill>
                  <a:srgbClr val="403011"/>
                </a:solidFill>
                <a:latin typeface="Arimo"/>
                <a:ea typeface="Arimo"/>
                <a:cs typeface="Arimo"/>
                <a:sym typeface="Arimo"/>
              </a:rPr>
              <a:t> ASHWATHI MISS • Department of Computer Applications, CEV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1C064"/>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6EBD4"/>
            </a:solidFill>
          </p:spPr>
        </p:sp>
      </p:grpSp>
      <p:sp>
        <p:nvSpPr>
          <p:cNvPr name="TextBox 6" id="6"/>
          <p:cNvSpPr txBox="true"/>
          <p:nvPr/>
        </p:nvSpPr>
        <p:spPr>
          <a:xfrm rot="0">
            <a:off x="992991" y="1929041"/>
            <a:ext cx="16315868" cy="785470"/>
          </a:xfrm>
          <a:prstGeom prst="rect">
            <a:avLst/>
          </a:prstGeom>
        </p:spPr>
        <p:txBody>
          <a:bodyPr anchor="t" rtlCol="false" tIns="0" lIns="0" bIns="0" rIns="0">
            <a:spAutoFit/>
          </a:bodyPr>
          <a:lstStyle/>
          <a:p>
            <a:pPr algn="l">
              <a:lnSpc>
                <a:spcPts val="5526"/>
              </a:lnSpc>
            </a:pPr>
            <a:r>
              <a:rPr lang="en-US" sz="4428">
                <a:solidFill>
                  <a:srgbClr val="403011"/>
                </a:solidFill>
                <a:latin typeface="Arimo"/>
                <a:ea typeface="Arimo"/>
                <a:cs typeface="Arimo"/>
                <a:sym typeface="Arimo"/>
              </a:rPr>
              <a:t>Abstract &amp; Introduction</a:t>
            </a:r>
          </a:p>
        </p:txBody>
      </p:sp>
      <p:sp>
        <p:nvSpPr>
          <p:cNvPr name="TextBox 7" id="7"/>
          <p:cNvSpPr txBox="true"/>
          <p:nvPr/>
        </p:nvSpPr>
        <p:spPr>
          <a:xfrm rot="0">
            <a:off x="992991" y="3091491"/>
            <a:ext cx="16315868" cy="1552451"/>
          </a:xfrm>
          <a:prstGeom prst="rect">
            <a:avLst/>
          </a:prstGeom>
        </p:spPr>
        <p:txBody>
          <a:bodyPr anchor="t" rtlCol="false" tIns="0" lIns="0" bIns="0" rIns="0">
            <a:spAutoFit/>
          </a:bodyPr>
          <a:lstStyle/>
          <a:p>
            <a:pPr algn="l">
              <a:lnSpc>
                <a:spcPts val="3474"/>
              </a:lnSpc>
            </a:pPr>
            <a:r>
              <a:rPr lang="en-US" sz="2175">
                <a:solidFill>
                  <a:srgbClr val="403011"/>
                </a:solidFill>
                <a:latin typeface="Arimo"/>
                <a:ea typeface="Arimo"/>
                <a:cs typeface="Arimo"/>
                <a:sym typeface="Arimo"/>
              </a:rPr>
              <a:t>     An intelligent platform designed for competitive examination preparation that fuses     Artificial Intelligence and Machine Learning with curated study content. The system     delivers personalized learning assistance derived from each student’s activities,     performance, and preferences.   </a:t>
            </a:r>
          </a:p>
        </p:txBody>
      </p:sp>
      <p:grpSp>
        <p:nvGrpSpPr>
          <p:cNvPr name="Group 8" id="8"/>
          <p:cNvGrpSpPr/>
          <p:nvPr/>
        </p:nvGrpSpPr>
        <p:grpSpPr>
          <a:xfrm rot="0">
            <a:off x="992991" y="4963125"/>
            <a:ext cx="1508665" cy="1885759"/>
            <a:chOff x="0" y="0"/>
            <a:chExt cx="2011553" cy="2514346"/>
          </a:xfrm>
        </p:grpSpPr>
        <p:sp>
          <p:nvSpPr>
            <p:cNvPr name="Freeform 9" id="9" descr="preencoded.png"/>
            <p:cNvSpPr/>
            <p:nvPr/>
          </p:nvSpPr>
          <p:spPr>
            <a:xfrm flipH="false" flipV="false" rot="0">
              <a:off x="0" y="0"/>
              <a:ext cx="2011553" cy="2514346"/>
            </a:xfrm>
            <a:custGeom>
              <a:avLst/>
              <a:gdLst/>
              <a:ahLst/>
              <a:cxnLst/>
              <a:rect r="r" b="b" t="t" l="l"/>
              <a:pathLst>
                <a:path h="2514346" w="2011553">
                  <a:moveTo>
                    <a:pt x="0" y="0"/>
                  </a:moveTo>
                  <a:lnTo>
                    <a:pt x="2011553" y="0"/>
                  </a:lnTo>
                  <a:lnTo>
                    <a:pt x="2011553" y="2514346"/>
                  </a:lnTo>
                  <a:lnTo>
                    <a:pt x="0" y="2514346"/>
                  </a:lnTo>
                  <a:lnTo>
                    <a:pt x="0" y="0"/>
                  </a:lnTo>
                  <a:close/>
                </a:path>
              </a:pathLst>
            </a:custGeom>
            <a:blipFill>
              <a:blip r:embed="rId3"/>
              <a:stretch>
                <a:fillRect l="-155" t="0" r="-155" b="0"/>
              </a:stretch>
            </a:blipFill>
          </p:spPr>
        </p:sp>
      </p:grpSp>
      <p:sp>
        <p:nvSpPr>
          <p:cNvPr name="TextBox 10" id="10"/>
          <p:cNvSpPr txBox="true"/>
          <p:nvPr/>
        </p:nvSpPr>
        <p:spPr>
          <a:xfrm rot="0">
            <a:off x="2856233" y="4905975"/>
            <a:ext cx="3338951" cy="500405"/>
          </a:xfrm>
          <a:prstGeom prst="rect">
            <a:avLst/>
          </a:prstGeom>
        </p:spPr>
        <p:txBody>
          <a:bodyPr anchor="t" rtlCol="false" tIns="0" lIns="0" bIns="0" rIns="0">
            <a:spAutoFit/>
          </a:bodyPr>
          <a:lstStyle/>
          <a:p>
            <a:pPr algn="l">
              <a:lnSpc>
                <a:spcPts val="3465"/>
              </a:lnSpc>
            </a:pPr>
            <a:r>
              <a:rPr lang="en-US" sz="2777">
                <a:solidFill>
                  <a:srgbClr val="403011"/>
                </a:solidFill>
                <a:latin typeface="Arimo"/>
                <a:ea typeface="Arimo"/>
                <a:cs typeface="Arimo"/>
                <a:sym typeface="Arimo"/>
              </a:rPr>
              <a:t>Integrated Content</a:t>
            </a:r>
          </a:p>
        </p:txBody>
      </p:sp>
      <p:sp>
        <p:nvSpPr>
          <p:cNvPr name="TextBox 11" id="11"/>
          <p:cNvSpPr txBox="true"/>
          <p:nvPr/>
        </p:nvSpPr>
        <p:spPr>
          <a:xfrm rot="0">
            <a:off x="2856233" y="5386130"/>
            <a:ext cx="3338951" cy="2006432"/>
          </a:xfrm>
          <a:prstGeom prst="rect">
            <a:avLst/>
          </a:prstGeom>
        </p:spPr>
        <p:txBody>
          <a:bodyPr anchor="t" rtlCol="false" tIns="0" lIns="0" bIns="0" rIns="0">
            <a:spAutoFit/>
          </a:bodyPr>
          <a:lstStyle/>
          <a:p>
            <a:pPr algn="l">
              <a:lnSpc>
                <a:spcPts val="3474"/>
              </a:lnSpc>
            </a:pPr>
            <a:r>
              <a:rPr lang="en-US" sz="2175">
                <a:solidFill>
                  <a:srgbClr val="403011"/>
                </a:solidFill>
                <a:latin typeface="Arimo"/>
                <a:ea typeface="Arimo"/>
                <a:cs typeface="Arimo"/>
                <a:sym typeface="Arimo"/>
              </a:rPr>
              <a:t>Study materials, quizzes, current affairs feeds, and audio lessons in a single place.</a:t>
            </a:r>
          </a:p>
        </p:txBody>
      </p:sp>
      <p:grpSp>
        <p:nvGrpSpPr>
          <p:cNvPr name="Group 12" id="12"/>
          <p:cNvGrpSpPr/>
          <p:nvPr/>
        </p:nvGrpSpPr>
        <p:grpSpPr>
          <a:xfrm rot="0">
            <a:off x="6549819" y="4963125"/>
            <a:ext cx="1508665" cy="1885759"/>
            <a:chOff x="0" y="0"/>
            <a:chExt cx="2011553" cy="2514346"/>
          </a:xfrm>
        </p:grpSpPr>
        <p:sp>
          <p:nvSpPr>
            <p:cNvPr name="Freeform 13" id="13" descr="preencoded.png"/>
            <p:cNvSpPr/>
            <p:nvPr/>
          </p:nvSpPr>
          <p:spPr>
            <a:xfrm flipH="false" flipV="false" rot="0">
              <a:off x="0" y="0"/>
              <a:ext cx="2011553" cy="2514346"/>
            </a:xfrm>
            <a:custGeom>
              <a:avLst/>
              <a:gdLst/>
              <a:ahLst/>
              <a:cxnLst/>
              <a:rect r="r" b="b" t="t" l="l"/>
              <a:pathLst>
                <a:path h="2514346" w="2011553">
                  <a:moveTo>
                    <a:pt x="0" y="0"/>
                  </a:moveTo>
                  <a:lnTo>
                    <a:pt x="2011553" y="0"/>
                  </a:lnTo>
                  <a:lnTo>
                    <a:pt x="2011553" y="2514346"/>
                  </a:lnTo>
                  <a:lnTo>
                    <a:pt x="0" y="2514346"/>
                  </a:lnTo>
                  <a:lnTo>
                    <a:pt x="0" y="0"/>
                  </a:lnTo>
                  <a:close/>
                </a:path>
              </a:pathLst>
            </a:custGeom>
            <a:blipFill>
              <a:blip r:embed="rId4"/>
              <a:stretch>
                <a:fillRect l="-155" t="0" r="-155" b="0"/>
              </a:stretch>
            </a:blipFill>
          </p:spPr>
        </p:sp>
      </p:grpSp>
      <p:sp>
        <p:nvSpPr>
          <p:cNvPr name="TextBox 14" id="14"/>
          <p:cNvSpPr txBox="true"/>
          <p:nvPr/>
        </p:nvSpPr>
        <p:spPr>
          <a:xfrm rot="0">
            <a:off x="8413071" y="4905975"/>
            <a:ext cx="3338951" cy="943670"/>
          </a:xfrm>
          <a:prstGeom prst="rect">
            <a:avLst/>
          </a:prstGeom>
        </p:spPr>
        <p:txBody>
          <a:bodyPr anchor="t" rtlCol="false" tIns="0" lIns="0" bIns="0" rIns="0">
            <a:spAutoFit/>
          </a:bodyPr>
          <a:lstStyle/>
          <a:p>
            <a:pPr algn="l">
              <a:lnSpc>
                <a:spcPts val="3465"/>
              </a:lnSpc>
            </a:pPr>
            <a:r>
              <a:rPr lang="en-US" sz="2777">
                <a:solidFill>
                  <a:srgbClr val="403011"/>
                </a:solidFill>
                <a:latin typeface="Arimo"/>
                <a:ea typeface="Arimo"/>
                <a:cs typeface="Arimo"/>
                <a:sym typeface="Arimo"/>
              </a:rPr>
              <a:t>Role-Based Modules</a:t>
            </a:r>
          </a:p>
        </p:txBody>
      </p:sp>
      <p:sp>
        <p:nvSpPr>
          <p:cNvPr name="TextBox 15" id="15"/>
          <p:cNvSpPr txBox="true"/>
          <p:nvPr/>
        </p:nvSpPr>
        <p:spPr>
          <a:xfrm rot="0">
            <a:off x="8413071" y="5829386"/>
            <a:ext cx="3338951" cy="2460412"/>
          </a:xfrm>
          <a:prstGeom prst="rect">
            <a:avLst/>
          </a:prstGeom>
        </p:spPr>
        <p:txBody>
          <a:bodyPr anchor="t" rtlCol="false" tIns="0" lIns="0" bIns="0" rIns="0">
            <a:spAutoFit/>
          </a:bodyPr>
          <a:lstStyle/>
          <a:p>
            <a:pPr algn="l">
              <a:lnSpc>
                <a:spcPts val="3474"/>
              </a:lnSpc>
            </a:pPr>
            <a:r>
              <a:rPr lang="en-US" sz="2175">
                <a:solidFill>
                  <a:srgbClr val="403011"/>
                </a:solidFill>
                <a:latin typeface="Arimo"/>
                <a:ea typeface="Arimo"/>
                <a:cs typeface="Arimo"/>
                <a:sym typeface="Arimo"/>
              </a:rPr>
              <a:t>Dedicated Student, Mentor, and Administrator modules with role-specific interfaces.</a:t>
            </a:r>
          </a:p>
        </p:txBody>
      </p:sp>
      <p:grpSp>
        <p:nvGrpSpPr>
          <p:cNvPr name="Group 16" id="16"/>
          <p:cNvGrpSpPr/>
          <p:nvPr/>
        </p:nvGrpSpPr>
        <p:grpSpPr>
          <a:xfrm rot="0">
            <a:off x="12106646" y="4963125"/>
            <a:ext cx="1508665" cy="1885759"/>
            <a:chOff x="0" y="0"/>
            <a:chExt cx="2011553" cy="2514346"/>
          </a:xfrm>
        </p:grpSpPr>
        <p:sp>
          <p:nvSpPr>
            <p:cNvPr name="Freeform 17" id="17" descr="preencoded.png"/>
            <p:cNvSpPr/>
            <p:nvPr/>
          </p:nvSpPr>
          <p:spPr>
            <a:xfrm flipH="false" flipV="false" rot="0">
              <a:off x="0" y="0"/>
              <a:ext cx="2011553" cy="2514346"/>
            </a:xfrm>
            <a:custGeom>
              <a:avLst/>
              <a:gdLst/>
              <a:ahLst/>
              <a:cxnLst/>
              <a:rect r="r" b="b" t="t" l="l"/>
              <a:pathLst>
                <a:path h="2514346" w="2011553">
                  <a:moveTo>
                    <a:pt x="0" y="0"/>
                  </a:moveTo>
                  <a:lnTo>
                    <a:pt x="2011553" y="0"/>
                  </a:lnTo>
                  <a:lnTo>
                    <a:pt x="2011553" y="2514346"/>
                  </a:lnTo>
                  <a:lnTo>
                    <a:pt x="0" y="2514346"/>
                  </a:lnTo>
                  <a:lnTo>
                    <a:pt x="0" y="0"/>
                  </a:lnTo>
                  <a:close/>
                </a:path>
              </a:pathLst>
            </a:custGeom>
            <a:blipFill>
              <a:blip r:embed="rId5"/>
              <a:stretch>
                <a:fillRect l="-155" t="0" r="-155" b="0"/>
              </a:stretch>
            </a:blipFill>
          </p:spPr>
        </p:sp>
      </p:grpSp>
      <p:sp>
        <p:nvSpPr>
          <p:cNvPr name="TextBox 18" id="18"/>
          <p:cNvSpPr txBox="true"/>
          <p:nvPr/>
        </p:nvSpPr>
        <p:spPr>
          <a:xfrm rot="0">
            <a:off x="13969898" y="4905975"/>
            <a:ext cx="3338951" cy="500405"/>
          </a:xfrm>
          <a:prstGeom prst="rect">
            <a:avLst/>
          </a:prstGeom>
        </p:spPr>
        <p:txBody>
          <a:bodyPr anchor="t" rtlCol="false" tIns="0" lIns="0" bIns="0" rIns="0">
            <a:spAutoFit/>
          </a:bodyPr>
          <a:lstStyle/>
          <a:p>
            <a:pPr algn="l">
              <a:lnSpc>
                <a:spcPts val="3465"/>
              </a:lnSpc>
            </a:pPr>
            <a:r>
              <a:rPr lang="en-US" sz="2777">
                <a:solidFill>
                  <a:srgbClr val="403011"/>
                </a:solidFill>
                <a:latin typeface="Arimo"/>
                <a:ea typeface="Arimo"/>
                <a:cs typeface="Arimo"/>
                <a:sym typeface="Arimo"/>
              </a:rPr>
              <a:t>Data-Driven</a:t>
            </a:r>
          </a:p>
        </p:txBody>
      </p:sp>
      <p:sp>
        <p:nvSpPr>
          <p:cNvPr name="TextBox 19" id="19"/>
          <p:cNvSpPr txBox="true"/>
          <p:nvPr/>
        </p:nvSpPr>
        <p:spPr>
          <a:xfrm rot="0">
            <a:off x="13969898" y="5386130"/>
            <a:ext cx="3338951" cy="2006432"/>
          </a:xfrm>
          <a:prstGeom prst="rect">
            <a:avLst/>
          </a:prstGeom>
        </p:spPr>
        <p:txBody>
          <a:bodyPr anchor="t" rtlCol="false" tIns="0" lIns="0" bIns="0" rIns="0">
            <a:spAutoFit/>
          </a:bodyPr>
          <a:lstStyle/>
          <a:p>
            <a:pPr algn="l">
              <a:lnSpc>
                <a:spcPts val="3474"/>
              </a:lnSpc>
            </a:pPr>
            <a:r>
              <a:rPr lang="en-US" sz="2175">
                <a:solidFill>
                  <a:srgbClr val="403011"/>
                </a:solidFill>
                <a:latin typeface="Arimo"/>
                <a:ea typeface="Arimo"/>
                <a:cs typeface="Arimo"/>
                <a:sym typeface="Arimo"/>
              </a:rPr>
              <a:t>Continuous logging of activities to enable ML-driven insights and reports.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1C064"/>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6EBD4"/>
            </a:solidFill>
          </p:spPr>
        </p:sp>
      </p:grpSp>
      <p:grpSp>
        <p:nvGrpSpPr>
          <p:cNvPr name="Group 6" id="6"/>
          <p:cNvGrpSpPr/>
          <p:nvPr/>
        </p:nvGrpSpPr>
        <p:grpSpPr>
          <a:xfrm rot="0">
            <a:off x="0" y="0"/>
            <a:ext cx="7206329" cy="10295001"/>
            <a:chOff x="0" y="0"/>
            <a:chExt cx="9608439" cy="13726668"/>
          </a:xfrm>
        </p:grpSpPr>
        <p:sp>
          <p:nvSpPr>
            <p:cNvPr name="Freeform 7" id="7"/>
            <p:cNvSpPr/>
            <p:nvPr/>
          </p:nvSpPr>
          <p:spPr>
            <a:xfrm flipH="false" flipV="false" rot="0">
              <a:off x="0" y="0"/>
              <a:ext cx="9608439" cy="13726668"/>
            </a:xfrm>
            <a:custGeom>
              <a:avLst/>
              <a:gdLst/>
              <a:ahLst/>
              <a:cxnLst/>
              <a:rect r="r" b="b" t="t" l="l"/>
              <a:pathLst>
                <a:path h="13726668" w="9608439">
                  <a:moveTo>
                    <a:pt x="0" y="0"/>
                  </a:moveTo>
                  <a:lnTo>
                    <a:pt x="9608439" y="0"/>
                  </a:lnTo>
                  <a:lnTo>
                    <a:pt x="9608439" y="13726668"/>
                  </a:lnTo>
                  <a:lnTo>
                    <a:pt x="0" y="13726668"/>
                  </a:lnTo>
                  <a:lnTo>
                    <a:pt x="0" y="0"/>
                  </a:lnTo>
                  <a:close/>
                </a:path>
              </a:pathLst>
            </a:custGeom>
            <a:blipFill>
              <a:blip r:embed="rId3"/>
              <a:stretch>
                <a:fillRect l="-29" t="0" r="-29" b="0"/>
              </a:stretch>
            </a:blipFill>
          </p:spPr>
        </p:sp>
      </p:grpSp>
      <p:sp>
        <p:nvSpPr>
          <p:cNvPr name="TextBox 8" id="8"/>
          <p:cNvSpPr txBox="true"/>
          <p:nvPr/>
        </p:nvSpPr>
        <p:spPr>
          <a:xfrm rot="0">
            <a:off x="7856182" y="719309"/>
            <a:ext cx="9452677" cy="685676"/>
          </a:xfrm>
          <a:prstGeom prst="rect">
            <a:avLst/>
          </a:prstGeom>
        </p:spPr>
        <p:txBody>
          <a:bodyPr anchor="t" rtlCol="false" tIns="0" lIns="0" bIns="0" rIns="0">
            <a:spAutoFit/>
          </a:bodyPr>
          <a:lstStyle/>
          <a:p>
            <a:pPr algn="l">
              <a:lnSpc>
                <a:spcPts val="4777"/>
              </a:lnSpc>
            </a:pPr>
            <a:r>
              <a:rPr lang="en-US" sz="3827">
                <a:solidFill>
                  <a:srgbClr val="403011"/>
                </a:solidFill>
                <a:latin typeface="Arimo"/>
                <a:ea typeface="Arimo"/>
                <a:cs typeface="Arimo"/>
                <a:sym typeface="Arimo"/>
              </a:rPr>
              <a:t>Existing System — Problems</a:t>
            </a:r>
          </a:p>
        </p:txBody>
      </p:sp>
      <p:sp>
        <p:nvSpPr>
          <p:cNvPr name="TextBox 9" id="9"/>
          <p:cNvSpPr txBox="true"/>
          <p:nvPr/>
        </p:nvSpPr>
        <p:spPr>
          <a:xfrm rot="0">
            <a:off x="7856182" y="1631842"/>
            <a:ext cx="9452677" cy="2193950"/>
          </a:xfrm>
          <a:prstGeom prst="rect">
            <a:avLst/>
          </a:prstGeom>
        </p:spPr>
        <p:txBody>
          <a:bodyPr anchor="t" rtlCol="false" tIns="0" lIns="0" bIns="0" rIns="0">
            <a:spAutoFit/>
          </a:bodyPr>
          <a:lstStyle/>
          <a:p>
            <a:pPr algn="l" marL="396267" indent="-132089" lvl="2">
              <a:lnSpc>
                <a:spcPts val="2791"/>
              </a:lnSpc>
              <a:buFont typeface="Arial"/>
              <a:buChar char="⚬"/>
            </a:pPr>
            <a:r>
              <a:rPr lang="en-US" sz="1875">
                <a:solidFill>
                  <a:srgbClr val="403011"/>
                </a:solidFill>
                <a:latin typeface="Arimo"/>
                <a:ea typeface="Arimo"/>
                <a:cs typeface="Arimo"/>
                <a:sym typeface="Arimo"/>
              </a:rPr>
              <a:t>Resources scattered across platforms; learners lose context and continuity.</a:t>
            </a:r>
          </a:p>
          <a:p>
            <a:pPr algn="l" marL="396267" indent="-132089" lvl="2">
              <a:lnSpc>
                <a:spcPts val="2791"/>
              </a:lnSpc>
              <a:buFont typeface="Arial"/>
              <a:buChar char="⚬"/>
            </a:pPr>
            <a:r>
              <a:rPr lang="en-US" sz="1875">
                <a:solidFill>
                  <a:srgbClr val="403011"/>
                </a:solidFill>
                <a:latin typeface="Arimo"/>
                <a:ea typeface="Arimo"/>
                <a:cs typeface="Arimo"/>
                <a:sym typeface="Arimo"/>
              </a:rPr>
              <a:t>Minimal or no personalized guidance; one-size-fits-all content delivery.</a:t>
            </a:r>
          </a:p>
          <a:p>
            <a:pPr algn="l" marL="396267" indent="-132089" lvl="2">
              <a:lnSpc>
                <a:spcPts val="2791"/>
              </a:lnSpc>
              <a:buFont typeface="Arial"/>
              <a:buChar char="⚬"/>
            </a:pPr>
            <a:r>
              <a:rPr lang="en-US" sz="1875">
                <a:solidFill>
                  <a:srgbClr val="403011"/>
                </a:solidFill>
                <a:latin typeface="Arimo"/>
                <a:ea typeface="Arimo"/>
                <a:cs typeface="Arimo"/>
                <a:sym typeface="Arimo"/>
              </a:rPr>
              <a:t>Performance tracking is manual and time-consuming for mentors.</a:t>
            </a:r>
          </a:p>
          <a:p>
            <a:pPr algn="l" marL="396267" indent="-132089" lvl="2">
              <a:lnSpc>
                <a:spcPts val="2791"/>
              </a:lnSpc>
              <a:buFont typeface="Arial"/>
              <a:buChar char="⚬"/>
            </a:pPr>
            <a:r>
              <a:rPr lang="en-US" sz="1875">
                <a:solidFill>
                  <a:srgbClr val="403011"/>
                </a:solidFill>
                <a:latin typeface="Arimo"/>
                <a:ea typeface="Arimo"/>
                <a:cs typeface="Arimo"/>
                <a:sym typeface="Arimo"/>
              </a:rPr>
              <a:t>Current-affairs require separate searching and curation by students.</a:t>
            </a:r>
          </a:p>
          <a:p>
            <a:pPr algn="l" marL="396267" indent="-132089" lvl="2">
              <a:lnSpc>
                <a:spcPts val="2791"/>
              </a:lnSpc>
              <a:buFont typeface="Arial"/>
              <a:buChar char="⚬"/>
            </a:pPr>
            <a:r>
              <a:rPr lang="en-US" sz="1875">
                <a:solidFill>
                  <a:srgbClr val="403011"/>
                </a:solidFill>
                <a:latin typeface="Arimo"/>
                <a:ea typeface="Arimo"/>
                <a:cs typeface="Arimo"/>
                <a:sym typeface="Arimo"/>
              </a:rPr>
              <a:t>Weak student–mentor integration limits actionable guidance.</a:t>
            </a:r>
          </a:p>
        </p:txBody>
      </p:sp>
      <p:grpSp>
        <p:nvGrpSpPr>
          <p:cNvPr name="Group 10" id="10"/>
          <p:cNvGrpSpPr/>
          <p:nvPr/>
        </p:nvGrpSpPr>
        <p:grpSpPr>
          <a:xfrm rot="0">
            <a:off x="7856182" y="4122334"/>
            <a:ext cx="9452610" cy="28575"/>
            <a:chOff x="0" y="0"/>
            <a:chExt cx="12603480" cy="38100"/>
          </a:xfrm>
        </p:grpSpPr>
        <p:sp>
          <p:nvSpPr>
            <p:cNvPr name="Freeform 11" id="11"/>
            <p:cNvSpPr/>
            <p:nvPr/>
          </p:nvSpPr>
          <p:spPr>
            <a:xfrm flipH="false" flipV="false" rot="0">
              <a:off x="0" y="0"/>
              <a:ext cx="12603480" cy="38100"/>
            </a:xfrm>
            <a:custGeom>
              <a:avLst/>
              <a:gdLst/>
              <a:ahLst/>
              <a:cxnLst/>
              <a:rect r="r" b="b" t="t" l="l"/>
              <a:pathLst>
                <a:path h="38100" w="12603480">
                  <a:moveTo>
                    <a:pt x="0" y="19050"/>
                  </a:moveTo>
                  <a:cubicBezTo>
                    <a:pt x="0" y="8509"/>
                    <a:pt x="8509" y="0"/>
                    <a:pt x="19050" y="0"/>
                  </a:cubicBezTo>
                  <a:lnTo>
                    <a:pt x="12584430" y="0"/>
                  </a:lnTo>
                  <a:cubicBezTo>
                    <a:pt x="12594972" y="0"/>
                    <a:pt x="12603480" y="8509"/>
                    <a:pt x="12603480" y="19050"/>
                  </a:cubicBezTo>
                  <a:cubicBezTo>
                    <a:pt x="12603480" y="29591"/>
                    <a:pt x="12594971" y="38100"/>
                    <a:pt x="12584430" y="38100"/>
                  </a:cubicBezTo>
                  <a:lnTo>
                    <a:pt x="19050" y="38100"/>
                  </a:lnTo>
                  <a:cubicBezTo>
                    <a:pt x="8509" y="38100"/>
                    <a:pt x="0" y="29591"/>
                    <a:pt x="0" y="19050"/>
                  </a:cubicBezTo>
                  <a:close/>
                </a:path>
              </a:pathLst>
            </a:custGeom>
            <a:solidFill>
              <a:srgbClr val="403011">
                <a:alpha val="5882"/>
              </a:srgbClr>
            </a:solidFill>
          </p:spPr>
        </p:sp>
      </p:grpSp>
      <p:sp>
        <p:nvSpPr>
          <p:cNvPr name="TextBox 12" id="12"/>
          <p:cNvSpPr txBox="true"/>
          <p:nvPr/>
        </p:nvSpPr>
        <p:spPr>
          <a:xfrm rot="0">
            <a:off x="7856182" y="4449928"/>
            <a:ext cx="9452677" cy="685676"/>
          </a:xfrm>
          <a:prstGeom prst="rect">
            <a:avLst/>
          </a:prstGeom>
        </p:spPr>
        <p:txBody>
          <a:bodyPr anchor="t" rtlCol="false" tIns="0" lIns="0" bIns="0" rIns="0">
            <a:spAutoFit/>
          </a:bodyPr>
          <a:lstStyle/>
          <a:p>
            <a:pPr algn="l">
              <a:lnSpc>
                <a:spcPts val="4777"/>
              </a:lnSpc>
            </a:pPr>
            <a:r>
              <a:rPr lang="en-US" sz="3827">
                <a:solidFill>
                  <a:srgbClr val="403011"/>
                </a:solidFill>
                <a:latin typeface="Arimo"/>
                <a:ea typeface="Arimo"/>
                <a:cs typeface="Arimo"/>
                <a:sym typeface="Arimo"/>
              </a:rPr>
              <a:t>Proposed System — Highlights</a:t>
            </a:r>
          </a:p>
        </p:txBody>
      </p:sp>
      <p:sp>
        <p:nvSpPr>
          <p:cNvPr name="Freeform 13" id="13"/>
          <p:cNvSpPr/>
          <p:nvPr/>
        </p:nvSpPr>
        <p:spPr>
          <a:xfrm flipH="false" flipV="false" rot="0">
            <a:off x="7847838" y="5441537"/>
            <a:ext cx="4638304" cy="1755467"/>
          </a:xfrm>
          <a:custGeom>
            <a:avLst/>
            <a:gdLst/>
            <a:ahLst/>
            <a:cxnLst/>
            <a:rect r="r" b="b" t="t" l="l"/>
            <a:pathLst>
              <a:path h="1755467" w="4638304">
                <a:moveTo>
                  <a:pt x="0" y="0"/>
                </a:moveTo>
                <a:lnTo>
                  <a:pt x="4638304" y="0"/>
                </a:lnTo>
                <a:lnTo>
                  <a:pt x="4638304" y="1755467"/>
                </a:lnTo>
                <a:lnTo>
                  <a:pt x="0" y="1755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8109528" y="5646087"/>
            <a:ext cx="4114933" cy="438150"/>
          </a:xfrm>
          <a:prstGeom prst="rect">
            <a:avLst/>
          </a:prstGeom>
        </p:spPr>
        <p:txBody>
          <a:bodyPr anchor="t" rtlCol="false" tIns="0" lIns="0" bIns="0" rIns="0">
            <a:spAutoFit/>
          </a:bodyPr>
          <a:lstStyle/>
          <a:p>
            <a:pPr algn="l">
              <a:lnSpc>
                <a:spcPts val="2903"/>
              </a:lnSpc>
            </a:pPr>
            <a:r>
              <a:rPr lang="en-US" sz="2325">
                <a:solidFill>
                  <a:srgbClr val="FFFFFF"/>
                </a:solidFill>
                <a:latin typeface="Arimo"/>
                <a:ea typeface="Arimo"/>
                <a:cs typeface="Arimo"/>
                <a:sym typeface="Arimo"/>
              </a:rPr>
              <a:t>Centralized Platform</a:t>
            </a:r>
          </a:p>
        </p:txBody>
      </p:sp>
      <p:sp>
        <p:nvSpPr>
          <p:cNvPr name="TextBox 15" id="15"/>
          <p:cNvSpPr txBox="true"/>
          <p:nvPr/>
        </p:nvSpPr>
        <p:spPr>
          <a:xfrm rot="0">
            <a:off x="8109528" y="6057538"/>
            <a:ext cx="4114933" cy="877757"/>
          </a:xfrm>
          <a:prstGeom prst="rect">
            <a:avLst/>
          </a:prstGeom>
        </p:spPr>
        <p:txBody>
          <a:bodyPr anchor="t" rtlCol="false" tIns="0" lIns="0" bIns="0" rIns="0">
            <a:spAutoFit/>
          </a:bodyPr>
          <a:lstStyle/>
          <a:p>
            <a:pPr algn="l">
              <a:lnSpc>
                <a:spcPts val="2791"/>
              </a:lnSpc>
            </a:pPr>
            <a:r>
              <a:rPr lang="en-US" sz="1875">
                <a:solidFill>
                  <a:srgbClr val="FFFFFF"/>
                </a:solidFill>
                <a:latin typeface="Arimo"/>
                <a:ea typeface="Arimo"/>
                <a:cs typeface="Arimo"/>
                <a:sym typeface="Arimo"/>
              </a:rPr>
              <a:t>All resources and workflows under one authoritative environment.</a:t>
            </a:r>
          </a:p>
        </p:txBody>
      </p:sp>
      <p:sp>
        <p:nvSpPr>
          <p:cNvPr name="Freeform 16" id="16"/>
          <p:cNvSpPr/>
          <p:nvPr/>
        </p:nvSpPr>
        <p:spPr>
          <a:xfrm flipH="false" flipV="false" rot="0">
            <a:off x="12678880" y="5441537"/>
            <a:ext cx="4638304" cy="1755467"/>
          </a:xfrm>
          <a:custGeom>
            <a:avLst/>
            <a:gdLst/>
            <a:ahLst/>
            <a:cxnLst/>
            <a:rect r="r" b="b" t="t" l="l"/>
            <a:pathLst>
              <a:path h="1755467" w="4638304">
                <a:moveTo>
                  <a:pt x="0" y="0"/>
                </a:moveTo>
                <a:lnTo>
                  <a:pt x="4638303" y="0"/>
                </a:lnTo>
                <a:lnTo>
                  <a:pt x="4638303" y="1755467"/>
                </a:lnTo>
                <a:lnTo>
                  <a:pt x="0" y="17554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2940570" y="5646087"/>
            <a:ext cx="4114933" cy="438150"/>
          </a:xfrm>
          <a:prstGeom prst="rect">
            <a:avLst/>
          </a:prstGeom>
        </p:spPr>
        <p:txBody>
          <a:bodyPr anchor="t" rtlCol="false" tIns="0" lIns="0" bIns="0" rIns="0">
            <a:spAutoFit/>
          </a:bodyPr>
          <a:lstStyle/>
          <a:p>
            <a:pPr algn="l">
              <a:lnSpc>
                <a:spcPts val="2903"/>
              </a:lnSpc>
            </a:pPr>
            <a:r>
              <a:rPr lang="en-US" sz="2325">
                <a:solidFill>
                  <a:srgbClr val="FFFFFF"/>
                </a:solidFill>
                <a:latin typeface="Arimo"/>
                <a:ea typeface="Arimo"/>
                <a:cs typeface="Arimo"/>
                <a:sym typeface="Arimo"/>
              </a:rPr>
              <a:t>AI-Powered Assistance</a:t>
            </a:r>
          </a:p>
        </p:txBody>
      </p:sp>
      <p:sp>
        <p:nvSpPr>
          <p:cNvPr name="TextBox 18" id="18"/>
          <p:cNvSpPr txBox="true"/>
          <p:nvPr/>
        </p:nvSpPr>
        <p:spPr>
          <a:xfrm rot="0">
            <a:off x="12940570" y="6057538"/>
            <a:ext cx="4114933" cy="877757"/>
          </a:xfrm>
          <a:prstGeom prst="rect">
            <a:avLst/>
          </a:prstGeom>
        </p:spPr>
        <p:txBody>
          <a:bodyPr anchor="t" rtlCol="false" tIns="0" lIns="0" bIns="0" rIns="0">
            <a:spAutoFit/>
          </a:bodyPr>
          <a:lstStyle/>
          <a:p>
            <a:pPr algn="l">
              <a:lnSpc>
                <a:spcPts val="2791"/>
              </a:lnSpc>
            </a:pPr>
            <a:r>
              <a:rPr lang="en-US" sz="1875">
                <a:solidFill>
                  <a:srgbClr val="FFFFFF"/>
                </a:solidFill>
                <a:latin typeface="Arimo"/>
                <a:ea typeface="Arimo"/>
                <a:cs typeface="Arimo"/>
                <a:sym typeface="Arimo"/>
              </a:rPr>
              <a:t>Contextual answers, hints, and adaptive content delivery.</a:t>
            </a:r>
          </a:p>
        </p:txBody>
      </p:sp>
      <p:sp>
        <p:nvSpPr>
          <p:cNvPr name="Freeform 19" id="19"/>
          <p:cNvSpPr/>
          <p:nvPr/>
        </p:nvSpPr>
        <p:spPr>
          <a:xfrm flipH="false" flipV="false" rot="0">
            <a:off x="7847838" y="7389733"/>
            <a:ext cx="4638399" cy="2118179"/>
          </a:xfrm>
          <a:custGeom>
            <a:avLst/>
            <a:gdLst/>
            <a:ahLst/>
            <a:cxnLst/>
            <a:rect r="r" b="b" t="t" l="l"/>
            <a:pathLst>
              <a:path h="2118179" w="4638399">
                <a:moveTo>
                  <a:pt x="0" y="0"/>
                </a:moveTo>
                <a:lnTo>
                  <a:pt x="4638399" y="0"/>
                </a:lnTo>
                <a:lnTo>
                  <a:pt x="4638399" y="2118179"/>
                </a:lnTo>
                <a:lnTo>
                  <a:pt x="0" y="21181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0" id="20"/>
          <p:cNvSpPr txBox="true"/>
          <p:nvPr/>
        </p:nvSpPr>
        <p:spPr>
          <a:xfrm rot="0">
            <a:off x="8109528" y="7594273"/>
            <a:ext cx="4114933" cy="438150"/>
          </a:xfrm>
          <a:prstGeom prst="rect">
            <a:avLst/>
          </a:prstGeom>
        </p:spPr>
        <p:txBody>
          <a:bodyPr anchor="t" rtlCol="false" tIns="0" lIns="0" bIns="0" rIns="0">
            <a:spAutoFit/>
          </a:bodyPr>
          <a:lstStyle/>
          <a:p>
            <a:pPr algn="l">
              <a:lnSpc>
                <a:spcPts val="2903"/>
              </a:lnSpc>
            </a:pPr>
            <a:r>
              <a:rPr lang="en-US" sz="2325">
                <a:solidFill>
                  <a:srgbClr val="000000"/>
                </a:solidFill>
                <a:latin typeface="Arimo"/>
                <a:ea typeface="Arimo"/>
                <a:cs typeface="Arimo"/>
                <a:sym typeface="Arimo"/>
              </a:rPr>
              <a:t>ML Performance Analysis</a:t>
            </a:r>
          </a:p>
        </p:txBody>
      </p:sp>
      <p:sp>
        <p:nvSpPr>
          <p:cNvPr name="TextBox 21" id="21"/>
          <p:cNvSpPr txBox="true"/>
          <p:nvPr/>
        </p:nvSpPr>
        <p:spPr>
          <a:xfrm rot="0">
            <a:off x="8109528" y="8005734"/>
            <a:ext cx="4114933" cy="877757"/>
          </a:xfrm>
          <a:prstGeom prst="rect">
            <a:avLst/>
          </a:prstGeom>
        </p:spPr>
        <p:txBody>
          <a:bodyPr anchor="t" rtlCol="false" tIns="0" lIns="0" bIns="0" rIns="0">
            <a:spAutoFit/>
          </a:bodyPr>
          <a:lstStyle/>
          <a:p>
            <a:pPr algn="l">
              <a:lnSpc>
                <a:spcPts val="2791"/>
              </a:lnSpc>
            </a:pPr>
            <a:r>
              <a:rPr lang="en-US" sz="1875">
                <a:solidFill>
                  <a:srgbClr val="000000"/>
                </a:solidFill>
                <a:latin typeface="Arimo"/>
                <a:ea typeface="Arimo"/>
                <a:cs typeface="Arimo"/>
                <a:sym typeface="Arimo"/>
              </a:rPr>
              <a:t>Automated pattern detection and personalized recommendations.</a:t>
            </a:r>
          </a:p>
        </p:txBody>
      </p:sp>
      <p:sp>
        <p:nvSpPr>
          <p:cNvPr name="Freeform 22" id="22"/>
          <p:cNvSpPr/>
          <p:nvPr/>
        </p:nvSpPr>
        <p:spPr>
          <a:xfrm flipH="false" flipV="false" rot="0">
            <a:off x="12678880" y="7389733"/>
            <a:ext cx="4638399" cy="2118179"/>
          </a:xfrm>
          <a:custGeom>
            <a:avLst/>
            <a:gdLst/>
            <a:ahLst/>
            <a:cxnLst/>
            <a:rect r="r" b="b" t="t" l="l"/>
            <a:pathLst>
              <a:path h="2118179" w="4638399">
                <a:moveTo>
                  <a:pt x="0" y="0"/>
                </a:moveTo>
                <a:lnTo>
                  <a:pt x="4638399" y="0"/>
                </a:lnTo>
                <a:lnTo>
                  <a:pt x="4638399" y="2118179"/>
                </a:lnTo>
                <a:lnTo>
                  <a:pt x="0" y="21181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12940570" y="7594273"/>
            <a:ext cx="4114933" cy="438150"/>
          </a:xfrm>
          <a:prstGeom prst="rect">
            <a:avLst/>
          </a:prstGeom>
        </p:spPr>
        <p:txBody>
          <a:bodyPr anchor="t" rtlCol="false" tIns="0" lIns="0" bIns="0" rIns="0">
            <a:spAutoFit/>
          </a:bodyPr>
          <a:lstStyle/>
          <a:p>
            <a:pPr algn="l">
              <a:lnSpc>
                <a:spcPts val="2903"/>
              </a:lnSpc>
            </a:pPr>
            <a:r>
              <a:rPr lang="en-US" sz="2325">
                <a:solidFill>
                  <a:srgbClr val="000000"/>
                </a:solidFill>
                <a:latin typeface="Arimo"/>
                <a:ea typeface="Arimo"/>
                <a:cs typeface="Arimo"/>
                <a:sym typeface="Arimo"/>
              </a:rPr>
              <a:t>Integrated Current Affairs</a:t>
            </a:r>
          </a:p>
        </p:txBody>
      </p:sp>
      <p:sp>
        <p:nvSpPr>
          <p:cNvPr name="TextBox 24" id="24"/>
          <p:cNvSpPr txBox="true"/>
          <p:nvPr/>
        </p:nvSpPr>
        <p:spPr>
          <a:xfrm rot="0">
            <a:off x="12940570" y="8005734"/>
            <a:ext cx="4114933" cy="1240441"/>
          </a:xfrm>
          <a:prstGeom prst="rect">
            <a:avLst/>
          </a:prstGeom>
        </p:spPr>
        <p:txBody>
          <a:bodyPr anchor="t" rtlCol="false" tIns="0" lIns="0" bIns="0" rIns="0">
            <a:spAutoFit/>
          </a:bodyPr>
          <a:lstStyle/>
          <a:p>
            <a:pPr algn="l">
              <a:lnSpc>
                <a:spcPts val="2791"/>
              </a:lnSpc>
            </a:pPr>
            <a:r>
              <a:rPr lang="en-US" sz="1875">
                <a:solidFill>
                  <a:srgbClr val="000000"/>
                </a:solidFill>
                <a:latin typeface="Arimo"/>
                <a:ea typeface="Arimo"/>
                <a:cs typeface="Arimo"/>
                <a:sym typeface="Arimo"/>
              </a:rPr>
              <a:t>Automated ingestion and RAG-enabled retrieval for up-to-date context.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
            <a:ext cx="18288000" cy="10206990"/>
          </a:xfrm>
          <a:custGeom>
            <a:avLst/>
            <a:gdLst/>
            <a:ahLst/>
            <a:cxnLst/>
            <a:rect r="r" b="b" t="t" l="l"/>
            <a:pathLst>
              <a:path h="10206990" w="18288000">
                <a:moveTo>
                  <a:pt x="0" y="0"/>
                </a:moveTo>
                <a:lnTo>
                  <a:pt x="18288000" y="0"/>
                </a:lnTo>
                <a:lnTo>
                  <a:pt x="18288000" y="10206990"/>
                </a:lnTo>
                <a:lnTo>
                  <a:pt x="0" y="1020699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80627" y="392401"/>
            <a:ext cx="13126736" cy="9502188"/>
            <a:chOff x="0" y="0"/>
            <a:chExt cx="17502314" cy="12669584"/>
          </a:xfrm>
        </p:grpSpPr>
        <p:sp>
          <p:nvSpPr>
            <p:cNvPr name="Freeform 3" id="3"/>
            <p:cNvSpPr/>
            <p:nvPr/>
          </p:nvSpPr>
          <p:spPr>
            <a:xfrm flipH="false" flipV="false" rot="0">
              <a:off x="0" y="0"/>
              <a:ext cx="17502378" cy="12669647"/>
            </a:xfrm>
            <a:custGeom>
              <a:avLst/>
              <a:gdLst/>
              <a:ahLst/>
              <a:cxnLst/>
              <a:rect r="r" b="b" t="t" l="l"/>
              <a:pathLst>
                <a:path h="12669647" w="17502378">
                  <a:moveTo>
                    <a:pt x="0" y="0"/>
                  </a:moveTo>
                  <a:lnTo>
                    <a:pt x="17502378" y="0"/>
                  </a:lnTo>
                  <a:lnTo>
                    <a:pt x="17502378" y="12669647"/>
                  </a:lnTo>
                  <a:lnTo>
                    <a:pt x="0" y="12669647"/>
                  </a:lnTo>
                  <a:lnTo>
                    <a:pt x="0" y="0"/>
                  </a:lnTo>
                  <a:close/>
                </a:path>
              </a:pathLst>
            </a:custGeom>
            <a:blipFill>
              <a:blip r:embed="rId2"/>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31" y="0"/>
            <a:ext cx="19253540" cy="10835869"/>
            <a:chOff x="0" y="0"/>
            <a:chExt cx="25671386" cy="14447825"/>
          </a:xfrm>
        </p:grpSpPr>
        <p:sp>
          <p:nvSpPr>
            <p:cNvPr name="Freeform 3" id="3"/>
            <p:cNvSpPr/>
            <p:nvPr/>
          </p:nvSpPr>
          <p:spPr>
            <a:xfrm flipH="false" flipV="false" rot="0">
              <a:off x="0" y="0"/>
              <a:ext cx="25671399" cy="14447774"/>
            </a:xfrm>
            <a:custGeom>
              <a:avLst/>
              <a:gdLst/>
              <a:ahLst/>
              <a:cxnLst/>
              <a:rect r="r" b="b" t="t" l="l"/>
              <a:pathLst>
                <a:path h="14447774" w="25671399">
                  <a:moveTo>
                    <a:pt x="0" y="0"/>
                  </a:moveTo>
                  <a:lnTo>
                    <a:pt x="25671399" y="0"/>
                  </a:lnTo>
                  <a:lnTo>
                    <a:pt x="25671399" y="14447774"/>
                  </a:lnTo>
                  <a:lnTo>
                    <a:pt x="0" y="14447774"/>
                  </a:lnTo>
                  <a:lnTo>
                    <a:pt x="0" y="0"/>
                  </a:lnTo>
                  <a:close/>
                </a:path>
              </a:pathLst>
            </a:custGeom>
            <a:blipFill>
              <a:blip r:embed="rId2"/>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66700"/>
            <a:ext cx="16230600" cy="10820400"/>
            <a:chOff x="0" y="0"/>
            <a:chExt cx="21640800" cy="14427200"/>
          </a:xfrm>
        </p:grpSpPr>
        <p:sp>
          <p:nvSpPr>
            <p:cNvPr name="Freeform 3" id="3"/>
            <p:cNvSpPr/>
            <p:nvPr/>
          </p:nvSpPr>
          <p:spPr>
            <a:xfrm flipH="false" flipV="false" rot="0">
              <a:off x="0" y="0"/>
              <a:ext cx="21640800" cy="14427200"/>
            </a:xfrm>
            <a:custGeom>
              <a:avLst/>
              <a:gdLst/>
              <a:ahLst/>
              <a:cxnLst/>
              <a:rect r="r" b="b" t="t" l="l"/>
              <a:pathLst>
                <a:path h="14427200" w="21640800">
                  <a:moveTo>
                    <a:pt x="0" y="0"/>
                  </a:moveTo>
                  <a:lnTo>
                    <a:pt x="21640800" y="0"/>
                  </a:lnTo>
                  <a:lnTo>
                    <a:pt x="21640800" y="14427200"/>
                  </a:lnTo>
                  <a:lnTo>
                    <a:pt x="0" y="14427200"/>
                  </a:lnTo>
                  <a:lnTo>
                    <a:pt x="0" y="0"/>
                  </a:lnTo>
                  <a:close/>
                </a:path>
              </a:pathLst>
            </a:custGeom>
            <a:blipFill>
              <a:blip r:embed="rId2"/>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749686" cy="10552309"/>
            <a:chOff x="0" y="0"/>
            <a:chExt cx="24999582" cy="14069746"/>
          </a:xfrm>
        </p:grpSpPr>
        <p:sp>
          <p:nvSpPr>
            <p:cNvPr name="Freeform 3" id="3"/>
            <p:cNvSpPr/>
            <p:nvPr/>
          </p:nvSpPr>
          <p:spPr>
            <a:xfrm flipH="false" flipV="false" rot="0">
              <a:off x="0" y="0"/>
              <a:ext cx="24999569" cy="14069695"/>
            </a:xfrm>
            <a:custGeom>
              <a:avLst/>
              <a:gdLst/>
              <a:ahLst/>
              <a:cxnLst/>
              <a:rect r="r" b="b" t="t" l="l"/>
              <a:pathLst>
                <a:path h="14069695" w="24999569">
                  <a:moveTo>
                    <a:pt x="0" y="0"/>
                  </a:moveTo>
                  <a:lnTo>
                    <a:pt x="24999569" y="0"/>
                  </a:lnTo>
                  <a:lnTo>
                    <a:pt x="24999569" y="14069695"/>
                  </a:lnTo>
                  <a:lnTo>
                    <a:pt x="0" y="14069695"/>
                  </a:lnTo>
                  <a:lnTo>
                    <a:pt x="0" y="0"/>
                  </a:lnTo>
                  <a:close/>
                </a:path>
              </a:pathLst>
            </a:custGeom>
            <a:blipFill>
              <a:blip r:embed="rId2"/>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92467"/>
            <a:chOff x="0" y="0"/>
            <a:chExt cx="24384000" cy="13723290"/>
          </a:xfrm>
        </p:grpSpPr>
        <p:sp>
          <p:nvSpPr>
            <p:cNvPr name="Freeform 3" id="3"/>
            <p:cNvSpPr/>
            <p:nvPr/>
          </p:nvSpPr>
          <p:spPr>
            <a:xfrm flipH="false" flipV="false" rot="0">
              <a:off x="0" y="0"/>
              <a:ext cx="24384000" cy="13723238"/>
            </a:xfrm>
            <a:custGeom>
              <a:avLst/>
              <a:gdLst/>
              <a:ahLst/>
              <a:cxnLst/>
              <a:rect r="r" b="b" t="t" l="l"/>
              <a:pathLst>
                <a:path h="13723238" w="24384000">
                  <a:moveTo>
                    <a:pt x="0" y="0"/>
                  </a:moveTo>
                  <a:lnTo>
                    <a:pt x="24384000" y="0"/>
                  </a:lnTo>
                  <a:lnTo>
                    <a:pt x="24384000" y="13723238"/>
                  </a:lnTo>
                  <a:lnTo>
                    <a:pt x="0" y="13723238"/>
                  </a:lnTo>
                  <a:lnTo>
                    <a:pt x="0" y="0"/>
                  </a:lnTo>
                  <a:close/>
                </a:path>
              </a:pathLst>
            </a:custGeom>
            <a:blipFill>
              <a:blip r:embed="rId2"/>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1C064"/>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6EBD4"/>
            </a:solidFill>
          </p:spPr>
        </p:sp>
      </p:grpSp>
      <p:grpSp>
        <p:nvGrpSpPr>
          <p:cNvPr name="Group 6" id="6"/>
          <p:cNvGrpSpPr/>
          <p:nvPr/>
        </p:nvGrpSpPr>
        <p:grpSpPr>
          <a:xfrm rot="0">
            <a:off x="16628307" y="9846183"/>
            <a:ext cx="1609058" cy="384334"/>
            <a:chOff x="0" y="0"/>
            <a:chExt cx="2145411" cy="512445"/>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123" t="0" r="-123" b="0"/>
              </a:stretch>
            </a:blipFill>
          </p:spPr>
        </p:sp>
      </p:grpSp>
      <p:grpSp>
        <p:nvGrpSpPr>
          <p:cNvPr name="Group 8" id="8"/>
          <p:cNvGrpSpPr/>
          <p:nvPr/>
        </p:nvGrpSpPr>
        <p:grpSpPr>
          <a:xfrm rot="0">
            <a:off x="11095492" y="0"/>
            <a:ext cx="7206329" cy="10295001"/>
            <a:chOff x="0" y="0"/>
            <a:chExt cx="9608439" cy="13726668"/>
          </a:xfrm>
        </p:grpSpPr>
        <p:sp>
          <p:nvSpPr>
            <p:cNvPr name="Freeform 9" id="9"/>
            <p:cNvSpPr/>
            <p:nvPr/>
          </p:nvSpPr>
          <p:spPr>
            <a:xfrm flipH="false" flipV="false" rot="0">
              <a:off x="0" y="0"/>
              <a:ext cx="9608439" cy="13726668"/>
            </a:xfrm>
            <a:custGeom>
              <a:avLst/>
              <a:gdLst/>
              <a:ahLst/>
              <a:cxnLst/>
              <a:rect r="r" b="b" t="t" l="l"/>
              <a:pathLst>
                <a:path h="13726668" w="9608439">
                  <a:moveTo>
                    <a:pt x="0" y="0"/>
                  </a:moveTo>
                  <a:lnTo>
                    <a:pt x="9608439" y="0"/>
                  </a:lnTo>
                  <a:lnTo>
                    <a:pt x="9608439" y="13726668"/>
                  </a:lnTo>
                  <a:lnTo>
                    <a:pt x="0" y="13726668"/>
                  </a:lnTo>
                  <a:lnTo>
                    <a:pt x="0" y="0"/>
                  </a:lnTo>
                  <a:close/>
                </a:path>
              </a:pathLst>
            </a:custGeom>
            <a:blipFill>
              <a:blip r:embed="rId5"/>
              <a:stretch>
                <a:fillRect l="-29" t="0" r="-29" b="0"/>
              </a:stretch>
            </a:blipFill>
          </p:spPr>
        </p:sp>
      </p:grpSp>
      <p:sp>
        <p:nvSpPr>
          <p:cNvPr name="TextBox 10" id="10"/>
          <p:cNvSpPr txBox="true"/>
          <p:nvPr/>
        </p:nvSpPr>
        <p:spPr>
          <a:xfrm rot="0">
            <a:off x="992991" y="915029"/>
            <a:ext cx="9452677" cy="1384230"/>
          </a:xfrm>
          <a:prstGeom prst="rect">
            <a:avLst/>
          </a:prstGeom>
        </p:spPr>
        <p:txBody>
          <a:bodyPr anchor="t" rtlCol="false" tIns="0" lIns="0" bIns="0" rIns="0">
            <a:spAutoFit/>
          </a:bodyPr>
          <a:lstStyle/>
          <a:p>
            <a:pPr algn="l">
              <a:lnSpc>
                <a:spcPts val="5057"/>
              </a:lnSpc>
            </a:pPr>
            <a:r>
              <a:rPr lang="en-US" sz="4053">
                <a:solidFill>
                  <a:srgbClr val="403011"/>
                </a:solidFill>
                <a:latin typeface="Arimo"/>
                <a:ea typeface="Arimo"/>
                <a:cs typeface="Arimo"/>
                <a:sym typeface="Arimo"/>
              </a:rPr>
              <a:t>Cloud LLM &amp; Machine Learning Components</a:t>
            </a:r>
          </a:p>
        </p:txBody>
      </p:sp>
      <p:sp>
        <p:nvSpPr>
          <p:cNvPr name="TextBox 11" id="11"/>
          <p:cNvSpPr txBox="true"/>
          <p:nvPr/>
        </p:nvSpPr>
        <p:spPr>
          <a:xfrm rot="0">
            <a:off x="992991" y="2863939"/>
            <a:ext cx="4407303" cy="446656"/>
          </a:xfrm>
          <a:prstGeom prst="rect">
            <a:avLst/>
          </a:prstGeom>
        </p:spPr>
        <p:txBody>
          <a:bodyPr anchor="t" rtlCol="false" tIns="0" lIns="0" bIns="0" rIns="0">
            <a:spAutoFit/>
          </a:bodyPr>
          <a:lstStyle/>
          <a:p>
            <a:pPr algn="l">
              <a:lnSpc>
                <a:spcPts val="3184"/>
              </a:lnSpc>
            </a:pPr>
            <a:r>
              <a:rPr lang="en-US" sz="2550">
                <a:solidFill>
                  <a:srgbClr val="403011"/>
                </a:solidFill>
                <a:latin typeface="Arimo"/>
                <a:ea typeface="Arimo"/>
                <a:cs typeface="Arimo"/>
                <a:sym typeface="Arimo"/>
              </a:rPr>
              <a:t>Cloud LLM</a:t>
            </a:r>
          </a:p>
        </p:txBody>
      </p:sp>
      <p:sp>
        <p:nvSpPr>
          <p:cNvPr name="TextBox 12" id="12"/>
          <p:cNvSpPr txBox="true"/>
          <p:nvPr/>
        </p:nvSpPr>
        <p:spPr>
          <a:xfrm rot="0">
            <a:off x="992991" y="3399330"/>
            <a:ext cx="4407303" cy="2966409"/>
          </a:xfrm>
          <a:prstGeom prst="rect">
            <a:avLst/>
          </a:prstGeom>
        </p:spPr>
        <p:txBody>
          <a:bodyPr anchor="t" rtlCol="false" tIns="0" lIns="0" bIns="0" rIns="0">
            <a:spAutoFit/>
          </a:bodyPr>
          <a:lstStyle/>
          <a:p>
            <a:pPr algn="l">
              <a:lnSpc>
                <a:spcPts val="3111"/>
              </a:lnSpc>
            </a:pPr>
            <a:r>
              <a:rPr lang="en-US" sz="2025">
                <a:solidFill>
                  <a:srgbClr val="403011"/>
                </a:solidFill>
                <a:latin typeface="Arimo"/>
                <a:ea typeface="Arimo"/>
                <a:cs typeface="Arimo"/>
                <a:sym typeface="Arimo"/>
              </a:rPr>
              <a:t>         Serves AI-powered Q&amp;A and contextual tutoring. RAG provides retrieved context to maintain factuality.         Examination-focused datasets support domain adaptation and targeted prompting or fine-tuning.       </a:t>
            </a:r>
          </a:p>
        </p:txBody>
      </p:sp>
      <p:sp>
        <p:nvSpPr>
          <p:cNvPr name="TextBox 13" id="13"/>
          <p:cNvSpPr txBox="true"/>
          <p:nvPr/>
        </p:nvSpPr>
        <p:spPr>
          <a:xfrm rot="0">
            <a:off x="6047889" y="2863939"/>
            <a:ext cx="4407303" cy="446656"/>
          </a:xfrm>
          <a:prstGeom prst="rect">
            <a:avLst/>
          </a:prstGeom>
        </p:spPr>
        <p:txBody>
          <a:bodyPr anchor="t" rtlCol="false" tIns="0" lIns="0" bIns="0" rIns="0">
            <a:spAutoFit/>
          </a:bodyPr>
          <a:lstStyle/>
          <a:p>
            <a:pPr algn="l">
              <a:lnSpc>
                <a:spcPts val="3184"/>
              </a:lnSpc>
            </a:pPr>
            <a:r>
              <a:rPr lang="en-US" sz="2550">
                <a:solidFill>
                  <a:srgbClr val="403011"/>
                </a:solidFill>
                <a:latin typeface="Arimo"/>
                <a:ea typeface="Arimo"/>
                <a:cs typeface="Arimo"/>
                <a:sym typeface="Arimo"/>
              </a:rPr>
              <a:t>Machine Learning</a:t>
            </a:r>
          </a:p>
        </p:txBody>
      </p:sp>
      <p:sp>
        <p:nvSpPr>
          <p:cNvPr name="TextBox 14" id="14"/>
          <p:cNvSpPr txBox="true"/>
          <p:nvPr/>
        </p:nvSpPr>
        <p:spPr>
          <a:xfrm rot="0">
            <a:off x="6047889" y="3399330"/>
            <a:ext cx="4407303" cy="956405"/>
          </a:xfrm>
          <a:prstGeom prst="rect">
            <a:avLst/>
          </a:prstGeom>
        </p:spPr>
        <p:txBody>
          <a:bodyPr anchor="t" rtlCol="false" tIns="0" lIns="0" bIns="0" rIns="0">
            <a:spAutoFit/>
          </a:bodyPr>
          <a:lstStyle/>
          <a:p>
            <a:pPr algn="l">
              <a:lnSpc>
                <a:spcPts val="3111"/>
              </a:lnSpc>
            </a:pPr>
            <a:r>
              <a:rPr lang="en-US" sz="2025">
                <a:solidFill>
                  <a:srgbClr val="403011"/>
                </a:solidFill>
                <a:latin typeface="Arimo"/>
                <a:ea typeface="Arimo"/>
                <a:cs typeface="Arimo"/>
                <a:sym typeface="Arimo"/>
              </a:rPr>
              <a:t>         Models analyze quiz outcomes, time-on-task, and concept gaps to:       </a:t>
            </a:r>
          </a:p>
        </p:txBody>
      </p:sp>
      <p:sp>
        <p:nvSpPr>
          <p:cNvPr name="TextBox 15" id="15"/>
          <p:cNvSpPr txBox="true"/>
          <p:nvPr/>
        </p:nvSpPr>
        <p:spPr>
          <a:xfrm rot="0">
            <a:off x="6047889" y="4490047"/>
            <a:ext cx="4407303" cy="3065316"/>
          </a:xfrm>
          <a:prstGeom prst="rect">
            <a:avLst/>
          </a:prstGeom>
        </p:spPr>
        <p:txBody>
          <a:bodyPr anchor="t" rtlCol="false" tIns="0" lIns="0" bIns="0" rIns="0">
            <a:spAutoFit/>
          </a:bodyPr>
          <a:lstStyle/>
          <a:p>
            <a:pPr algn="l" marL="427960" indent="-142653" lvl="2">
              <a:lnSpc>
                <a:spcPts val="3111"/>
              </a:lnSpc>
              <a:buFont typeface="Arial"/>
              <a:buChar char="⚬"/>
            </a:pPr>
            <a:r>
              <a:rPr lang="en-US" sz="2025">
                <a:solidFill>
                  <a:srgbClr val="403011"/>
                </a:solidFill>
                <a:latin typeface="Arimo"/>
                <a:ea typeface="Arimo"/>
                <a:cs typeface="Arimo"/>
                <a:sym typeface="Arimo"/>
              </a:rPr>
              <a:t>Identify weaknesses and mastery trajectories</a:t>
            </a:r>
          </a:p>
          <a:p>
            <a:pPr algn="l" marL="427960" indent="-142653" lvl="2">
              <a:lnSpc>
                <a:spcPts val="3111"/>
              </a:lnSpc>
              <a:buFont typeface="Arial"/>
              <a:buChar char="⚬"/>
            </a:pPr>
            <a:r>
              <a:rPr lang="en-US" sz="2025">
                <a:solidFill>
                  <a:srgbClr val="403011"/>
                </a:solidFill>
                <a:latin typeface="Arimo"/>
                <a:ea typeface="Arimo"/>
                <a:cs typeface="Arimo"/>
                <a:sym typeface="Arimo"/>
              </a:rPr>
              <a:t>Generate personalized study plans and spaced-repetition schedules</a:t>
            </a:r>
          </a:p>
          <a:p>
            <a:pPr algn="l" marL="427960" indent="-142653" lvl="2">
              <a:lnSpc>
                <a:spcPts val="3111"/>
              </a:lnSpc>
              <a:buFont typeface="Arial"/>
              <a:buChar char="⚬"/>
            </a:pPr>
            <a:r>
              <a:rPr lang="en-US" sz="2025">
                <a:solidFill>
                  <a:srgbClr val="403011"/>
                </a:solidFill>
                <a:latin typeface="Arimo"/>
                <a:ea typeface="Arimo"/>
                <a:cs typeface="Arimo"/>
                <a:sym typeface="Arimo"/>
              </a:rPr>
              <a:t>Provide mentors with actionable alerts and cohort insights</a:t>
            </a:r>
          </a:p>
        </p:txBody>
      </p:sp>
      <p:grpSp>
        <p:nvGrpSpPr>
          <p:cNvPr name="Group 16" id="16"/>
          <p:cNvGrpSpPr/>
          <p:nvPr/>
        </p:nvGrpSpPr>
        <p:grpSpPr>
          <a:xfrm rot="0">
            <a:off x="992991" y="7910884"/>
            <a:ext cx="9452610" cy="1392841"/>
            <a:chOff x="0" y="0"/>
            <a:chExt cx="12603480" cy="1857121"/>
          </a:xfrm>
        </p:grpSpPr>
        <p:sp>
          <p:nvSpPr>
            <p:cNvPr name="Freeform 17" id="17"/>
            <p:cNvSpPr/>
            <p:nvPr/>
          </p:nvSpPr>
          <p:spPr>
            <a:xfrm flipH="false" flipV="false" rot="0">
              <a:off x="0" y="0"/>
              <a:ext cx="12603480" cy="1857121"/>
            </a:xfrm>
            <a:custGeom>
              <a:avLst/>
              <a:gdLst/>
              <a:ahLst/>
              <a:cxnLst/>
              <a:rect r="r" b="b" t="t" l="l"/>
              <a:pathLst>
                <a:path h="1857121" w="12603480">
                  <a:moveTo>
                    <a:pt x="0" y="523113"/>
                  </a:moveTo>
                  <a:cubicBezTo>
                    <a:pt x="0" y="234188"/>
                    <a:pt x="234188" y="0"/>
                    <a:pt x="523113" y="0"/>
                  </a:cubicBezTo>
                  <a:lnTo>
                    <a:pt x="12080367" y="0"/>
                  </a:lnTo>
                  <a:cubicBezTo>
                    <a:pt x="12369292" y="0"/>
                    <a:pt x="12603480" y="234188"/>
                    <a:pt x="12603480" y="523113"/>
                  </a:cubicBezTo>
                  <a:lnTo>
                    <a:pt x="12603480" y="1334008"/>
                  </a:lnTo>
                  <a:cubicBezTo>
                    <a:pt x="12603480" y="1622933"/>
                    <a:pt x="12369292" y="1857121"/>
                    <a:pt x="12080367" y="1857121"/>
                  </a:cubicBezTo>
                  <a:lnTo>
                    <a:pt x="523113" y="1857121"/>
                  </a:lnTo>
                  <a:cubicBezTo>
                    <a:pt x="234188" y="1857248"/>
                    <a:pt x="0" y="1623060"/>
                    <a:pt x="0" y="1334135"/>
                  </a:cubicBezTo>
                  <a:close/>
                </a:path>
              </a:pathLst>
            </a:custGeom>
            <a:solidFill>
              <a:srgbClr val="EAEDDE"/>
            </a:solidFill>
          </p:spPr>
        </p:sp>
      </p:grpSp>
      <p:grpSp>
        <p:nvGrpSpPr>
          <p:cNvPr name="Group 18" id="18"/>
          <p:cNvGrpSpPr/>
          <p:nvPr/>
        </p:nvGrpSpPr>
        <p:grpSpPr>
          <a:xfrm rot="0">
            <a:off x="1254528" y="8264928"/>
            <a:ext cx="326898" cy="261556"/>
            <a:chOff x="0" y="0"/>
            <a:chExt cx="435864" cy="348742"/>
          </a:xfrm>
        </p:grpSpPr>
        <p:sp>
          <p:nvSpPr>
            <p:cNvPr name="Freeform 19" id="19" descr="preencoded.png"/>
            <p:cNvSpPr/>
            <p:nvPr/>
          </p:nvSpPr>
          <p:spPr>
            <a:xfrm flipH="false" flipV="false" rot="0">
              <a:off x="0" y="0"/>
              <a:ext cx="435864" cy="348742"/>
            </a:xfrm>
            <a:custGeom>
              <a:avLst/>
              <a:gdLst/>
              <a:ahLst/>
              <a:cxnLst/>
              <a:rect r="r" b="b" t="t" l="l"/>
              <a:pathLst>
                <a:path h="348742" w="435864">
                  <a:moveTo>
                    <a:pt x="0" y="0"/>
                  </a:moveTo>
                  <a:lnTo>
                    <a:pt x="435864" y="0"/>
                  </a:lnTo>
                  <a:lnTo>
                    <a:pt x="435864" y="348742"/>
                  </a:lnTo>
                  <a:lnTo>
                    <a:pt x="0" y="348742"/>
                  </a:lnTo>
                  <a:lnTo>
                    <a:pt x="0" y="0"/>
                  </a:lnTo>
                  <a:close/>
                </a:path>
              </a:pathLst>
            </a:custGeom>
            <a:blipFill>
              <a:blip r:embed="rId6"/>
              <a:stretch>
                <a:fillRect l="0" t="-586" r="0" b="-589"/>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
            <a:ext cx="18288000" cy="10206990"/>
          </a:xfrm>
          <a:custGeom>
            <a:avLst/>
            <a:gdLst/>
            <a:ahLst/>
            <a:cxnLst/>
            <a:rect r="r" b="b" t="t" l="l"/>
            <a:pathLst>
              <a:path h="10206990" w="18288000">
                <a:moveTo>
                  <a:pt x="0" y="0"/>
                </a:moveTo>
                <a:lnTo>
                  <a:pt x="18288000" y="0"/>
                </a:lnTo>
                <a:lnTo>
                  <a:pt x="18288000" y="10206990"/>
                </a:lnTo>
                <a:lnTo>
                  <a:pt x="0" y="1020699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6573" y="1413645"/>
            <a:ext cx="15774853" cy="8873355"/>
          </a:xfrm>
          <a:custGeom>
            <a:avLst/>
            <a:gdLst/>
            <a:ahLst/>
            <a:cxnLst/>
            <a:rect r="r" b="b" t="t" l="l"/>
            <a:pathLst>
              <a:path h="8873355" w="15774853">
                <a:moveTo>
                  <a:pt x="0" y="0"/>
                </a:moveTo>
                <a:lnTo>
                  <a:pt x="15774854" y="0"/>
                </a:lnTo>
                <a:lnTo>
                  <a:pt x="15774854" y="8873355"/>
                </a:lnTo>
                <a:lnTo>
                  <a:pt x="0" y="8873355"/>
                </a:lnTo>
                <a:lnTo>
                  <a:pt x="0" y="0"/>
                </a:lnTo>
                <a:close/>
              </a:path>
            </a:pathLst>
          </a:custGeom>
          <a:blipFill>
            <a:blip r:embed="rId2"/>
            <a:stretch>
              <a:fillRect l="0" t="0" r="0" b="0"/>
            </a:stretch>
          </a:blipFill>
        </p:spPr>
      </p:sp>
      <p:sp>
        <p:nvSpPr>
          <p:cNvPr name="TextBox 3" id="3"/>
          <p:cNvSpPr txBox="true"/>
          <p:nvPr/>
        </p:nvSpPr>
        <p:spPr>
          <a:xfrm rot="0">
            <a:off x="9138285" y="4398264"/>
            <a:ext cx="11430" cy="1347597"/>
          </a:xfrm>
          <a:prstGeom prst="rect">
            <a:avLst/>
          </a:prstGeom>
        </p:spPr>
        <p:txBody>
          <a:bodyPr anchor="t" rtlCol="false" tIns="0" lIns="0" bIns="0" rIns="0">
            <a:spAutoFit/>
          </a:bodyPr>
          <a:lstStyle/>
          <a:p>
            <a:pPr algn="ctr">
              <a:lnSpc>
                <a:spcPts val="11087"/>
              </a:lnSpc>
            </a:pPr>
          </a:p>
        </p:txBody>
      </p:sp>
      <p:sp>
        <p:nvSpPr>
          <p:cNvPr name="TextBox 4" id="4"/>
          <p:cNvSpPr txBox="true"/>
          <p:nvPr/>
        </p:nvSpPr>
        <p:spPr>
          <a:xfrm rot="0">
            <a:off x="1256573" y="296490"/>
            <a:ext cx="5074920"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1.0 LANDING PAGE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7622" y="1381681"/>
            <a:ext cx="15831678" cy="8905319"/>
          </a:xfrm>
          <a:custGeom>
            <a:avLst/>
            <a:gdLst/>
            <a:ahLst/>
            <a:cxnLst/>
            <a:rect r="r" b="b" t="t" l="l"/>
            <a:pathLst>
              <a:path h="8905319" w="15831678">
                <a:moveTo>
                  <a:pt x="0" y="0"/>
                </a:moveTo>
                <a:lnTo>
                  <a:pt x="15831678" y="0"/>
                </a:lnTo>
                <a:lnTo>
                  <a:pt x="15831678" y="8905319"/>
                </a:lnTo>
                <a:lnTo>
                  <a:pt x="0" y="8905319"/>
                </a:lnTo>
                <a:lnTo>
                  <a:pt x="0" y="0"/>
                </a:lnTo>
                <a:close/>
              </a:path>
            </a:pathLst>
          </a:custGeom>
          <a:blipFill>
            <a:blip r:embed="rId2"/>
            <a:stretch>
              <a:fillRect l="0" t="0" r="0" b="0"/>
            </a:stretch>
          </a:blipFill>
        </p:spPr>
      </p:sp>
      <p:sp>
        <p:nvSpPr>
          <p:cNvPr name="TextBox 3" id="3"/>
          <p:cNvSpPr txBox="true"/>
          <p:nvPr/>
        </p:nvSpPr>
        <p:spPr>
          <a:xfrm rot="0">
            <a:off x="1427622" y="479968"/>
            <a:ext cx="7365492"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1.1 USER AUTHENTICATION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262" y="1776269"/>
            <a:ext cx="15130189" cy="8510731"/>
          </a:xfrm>
          <a:custGeom>
            <a:avLst/>
            <a:gdLst/>
            <a:ahLst/>
            <a:cxnLst/>
            <a:rect r="r" b="b" t="t" l="l"/>
            <a:pathLst>
              <a:path h="8510731" w="15130189">
                <a:moveTo>
                  <a:pt x="0" y="0"/>
                </a:moveTo>
                <a:lnTo>
                  <a:pt x="15130188" y="0"/>
                </a:lnTo>
                <a:lnTo>
                  <a:pt x="15130188" y="8510731"/>
                </a:lnTo>
                <a:lnTo>
                  <a:pt x="0" y="8510731"/>
                </a:lnTo>
                <a:lnTo>
                  <a:pt x="0" y="0"/>
                </a:lnTo>
                <a:close/>
              </a:path>
            </a:pathLst>
          </a:custGeom>
          <a:blipFill>
            <a:blip r:embed="rId2"/>
            <a:stretch>
              <a:fillRect l="0" t="0" r="0" b="0"/>
            </a:stretch>
          </a:blipFill>
        </p:spPr>
      </p:sp>
      <p:sp>
        <p:nvSpPr>
          <p:cNvPr name="TextBox 3" id="3"/>
          <p:cNvSpPr txBox="true"/>
          <p:nvPr/>
        </p:nvSpPr>
        <p:spPr>
          <a:xfrm rot="0">
            <a:off x="1681262" y="702765"/>
            <a:ext cx="13235939"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1.3 NEW USER PROFILING FOR ML CALIBERATION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70115" y="1898421"/>
            <a:ext cx="14631330" cy="8230123"/>
          </a:xfrm>
          <a:custGeom>
            <a:avLst/>
            <a:gdLst/>
            <a:ahLst/>
            <a:cxnLst/>
            <a:rect r="r" b="b" t="t" l="l"/>
            <a:pathLst>
              <a:path h="8230123" w="14631330">
                <a:moveTo>
                  <a:pt x="0" y="0"/>
                </a:moveTo>
                <a:lnTo>
                  <a:pt x="14631331" y="0"/>
                </a:lnTo>
                <a:lnTo>
                  <a:pt x="14631331" y="8230123"/>
                </a:lnTo>
                <a:lnTo>
                  <a:pt x="0" y="8230123"/>
                </a:lnTo>
                <a:lnTo>
                  <a:pt x="0" y="0"/>
                </a:lnTo>
                <a:close/>
              </a:path>
            </a:pathLst>
          </a:custGeom>
          <a:blipFill>
            <a:blip r:embed="rId2"/>
            <a:stretch>
              <a:fillRect l="0" t="0" r="0" b="0"/>
            </a:stretch>
          </a:blipFill>
        </p:spPr>
      </p:sp>
      <p:sp>
        <p:nvSpPr>
          <p:cNvPr name="TextBox 3" id="3"/>
          <p:cNvSpPr txBox="true"/>
          <p:nvPr/>
        </p:nvSpPr>
        <p:spPr>
          <a:xfrm rot="0">
            <a:off x="1674403" y="702765"/>
            <a:ext cx="13249655"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1.4 NEW USER PROFILING FOR ML CALIBERATION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1661" y="1869369"/>
            <a:ext cx="14964677" cy="8417631"/>
          </a:xfrm>
          <a:custGeom>
            <a:avLst/>
            <a:gdLst/>
            <a:ahLst/>
            <a:cxnLst/>
            <a:rect r="r" b="b" t="t" l="l"/>
            <a:pathLst>
              <a:path h="8417631" w="14964677">
                <a:moveTo>
                  <a:pt x="0" y="0"/>
                </a:moveTo>
                <a:lnTo>
                  <a:pt x="14964678" y="0"/>
                </a:lnTo>
                <a:lnTo>
                  <a:pt x="14964678" y="8417631"/>
                </a:lnTo>
                <a:lnTo>
                  <a:pt x="0" y="8417631"/>
                </a:lnTo>
                <a:lnTo>
                  <a:pt x="0" y="0"/>
                </a:lnTo>
                <a:close/>
              </a:path>
            </a:pathLst>
          </a:custGeom>
          <a:blipFill>
            <a:blip r:embed="rId2"/>
            <a:stretch>
              <a:fillRect l="0" t="0" r="0" b="0"/>
            </a:stretch>
          </a:blipFill>
        </p:spPr>
      </p:sp>
      <p:sp>
        <p:nvSpPr>
          <p:cNvPr name="TextBox 3" id="3"/>
          <p:cNvSpPr txBox="true"/>
          <p:nvPr/>
        </p:nvSpPr>
        <p:spPr>
          <a:xfrm rot="0">
            <a:off x="1681262" y="702765"/>
            <a:ext cx="13235939"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1.5 NEW USER PROFILING FOR ML CALIBERATION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2186" y="1926209"/>
            <a:ext cx="14863628" cy="8360791"/>
          </a:xfrm>
          <a:custGeom>
            <a:avLst/>
            <a:gdLst/>
            <a:ahLst/>
            <a:cxnLst/>
            <a:rect r="r" b="b" t="t" l="l"/>
            <a:pathLst>
              <a:path h="8360791" w="14863628">
                <a:moveTo>
                  <a:pt x="0" y="0"/>
                </a:moveTo>
                <a:lnTo>
                  <a:pt x="14863628" y="0"/>
                </a:lnTo>
                <a:lnTo>
                  <a:pt x="14863628" y="8360791"/>
                </a:lnTo>
                <a:lnTo>
                  <a:pt x="0" y="8360791"/>
                </a:lnTo>
                <a:lnTo>
                  <a:pt x="0" y="0"/>
                </a:lnTo>
                <a:close/>
              </a:path>
            </a:pathLst>
          </a:custGeom>
          <a:blipFill>
            <a:blip r:embed="rId2"/>
            <a:stretch>
              <a:fillRect l="0" t="0" r="0" b="0"/>
            </a:stretch>
          </a:blipFill>
        </p:spPr>
      </p:sp>
      <p:sp>
        <p:nvSpPr>
          <p:cNvPr name="TextBox 3" id="3"/>
          <p:cNvSpPr txBox="true"/>
          <p:nvPr/>
        </p:nvSpPr>
        <p:spPr>
          <a:xfrm rot="0">
            <a:off x="1712186" y="952500"/>
            <a:ext cx="9258299"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1.6 COMPETITIVE EXAM MCQ QUIZ</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6550" y="1898421"/>
            <a:ext cx="14913030" cy="8388579"/>
          </a:xfrm>
          <a:custGeom>
            <a:avLst/>
            <a:gdLst/>
            <a:ahLst/>
            <a:cxnLst/>
            <a:rect r="r" b="b" t="t" l="l"/>
            <a:pathLst>
              <a:path h="8388579" w="14913030">
                <a:moveTo>
                  <a:pt x="0" y="0"/>
                </a:moveTo>
                <a:lnTo>
                  <a:pt x="14913030" y="0"/>
                </a:lnTo>
                <a:lnTo>
                  <a:pt x="14913030" y="8388579"/>
                </a:lnTo>
                <a:lnTo>
                  <a:pt x="0" y="8388579"/>
                </a:lnTo>
                <a:lnTo>
                  <a:pt x="0" y="0"/>
                </a:lnTo>
                <a:close/>
              </a:path>
            </a:pathLst>
          </a:custGeom>
          <a:blipFill>
            <a:blip r:embed="rId2"/>
            <a:stretch>
              <a:fillRect l="0" t="0" r="0" b="0"/>
            </a:stretch>
          </a:blipFill>
        </p:spPr>
      </p:sp>
      <p:sp>
        <p:nvSpPr>
          <p:cNvPr name="TextBox 3" id="3"/>
          <p:cNvSpPr txBox="true"/>
          <p:nvPr/>
        </p:nvSpPr>
        <p:spPr>
          <a:xfrm rot="0">
            <a:off x="1712186" y="952500"/>
            <a:ext cx="9258299"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1.6 COMPETITIVE EXAM MCQ QUIZ</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03209" y="1356705"/>
            <a:ext cx="15281581" cy="8595890"/>
          </a:xfrm>
          <a:custGeom>
            <a:avLst/>
            <a:gdLst/>
            <a:ahLst/>
            <a:cxnLst/>
            <a:rect r="r" b="b" t="t" l="l"/>
            <a:pathLst>
              <a:path h="8595890" w="15281581">
                <a:moveTo>
                  <a:pt x="0" y="0"/>
                </a:moveTo>
                <a:lnTo>
                  <a:pt x="15281582" y="0"/>
                </a:lnTo>
                <a:lnTo>
                  <a:pt x="15281582" y="8595890"/>
                </a:lnTo>
                <a:lnTo>
                  <a:pt x="0" y="8595890"/>
                </a:lnTo>
                <a:lnTo>
                  <a:pt x="0" y="0"/>
                </a:lnTo>
                <a:close/>
              </a:path>
            </a:pathLst>
          </a:custGeom>
          <a:blipFill>
            <a:blip r:embed="rId2"/>
            <a:stretch>
              <a:fillRect l="0" t="0" r="0" b="0"/>
            </a:stretch>
          </a:blipFill>
        </p:spPr>
      </p:sp>
      <p:sp>
        <p:nvSpPr>
          <p:cNvPr name="TextBox 3" id="3"/>
          <p:cNvSpPr txBox="true"/>
          <p:nvPr/>
        </p:nvSpPr>
        <p:spPr>
          <a:xfrm rot="0">
            <a:off x="901650" y="624495"/>
            <a:ext cx="7886699" cy="732210"/>
          </a:xfrm>
          <a:prstGeom prst="rect">
            <a:avLst/>
          </a:prstGeom>
        </p:spPr>
        <p:txBody>
          <a:bodyPr anchor="t" rtlCol="false" tIns="0" lIns="0" bIns="0" rIns="0">
            <a:spAutoFit/>
          </a:bodyPr>
          <a:lstStyle/>
          <a:p>
            <a:pPr algn="ctr">
              <a:lnSpc>
                <a:spcPts val="6048"/>
              </a:lnSpc>
            </a:pPr>
            <a:r>
              <a:rPr lang="en-US" b="true" sz="4320">
                <a:solidFill>
                  <a:srgbClr val="403011"/>
                </a:solidFill>
                <a:latin typeface="Canva Sans Bold"/>
                <a:ea typeface="Canva Sans Bold"/>
                <a:cs typeface="Canva Sans Bold"/>
                <a:sym typeface="Canva Sans Bold"/>
              </a:rPr>
              <a:t>1.7 AUDIO LIBRARY PODCAST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94942" y="1937955"/>
            <a:ext cx="14698116" cy="8267690"/>
          </a:xfrm>
          <a:custGeom>
            <a:avLst/>
            <a:gdLst/>
            <a:ahLst/>
            <a:cxnLst/>
            <a:rect r="r" b="b" t="t" l="l"/>
            <a:pathLst>
              <a:path h="8267690" w="14698116">
                <a:moveTo>
                  <a:pt x="0" y="0"/>
                </a:moveTo>
                <a:lnTo>
                  <a:pt x="14698116" y="0"/>
                </a:lnTo>
                <a:lnTo>
                  <a:pt x="14698116" y="8267690"/>
                </a:lnTo>
                <a:lnTo>
                  <a:pt x="0" y="8267690"/>
                </a:lnTo>
                <a:lnTo>
                  <a:pt x="0" y="0"/>
                </a:lnTo>
                <a:close/>
              </a:path>
            </a:pathLst>
          </a:custGeom>
          <a:blipFill>
            <a:blip r:embed="rId2"/>
            <a:stretch>
              <a:fillRect l="0" t="0" r="0" b="0"/>
            </a:stretch>
          </a:blipFill>
        </p:spPr>
      </p:sp>
      <p:sp>
        <p:nvSpPr>
          <p:cNvPr name="TextBox 3" id="3"/>
          <p:cNvSpPr txBox="true"/>
          <p:nvPr/>
        </p:nvSpPr>
        <p:spPr>
          <a:xfrm rot="0">
            <a:off x="1794942" y="952500"/>
            <a:ext cx="8956548"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1.8 REAL TIME CURRENT AFFAIRS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9308" y="1666494"/>
            <a:ext cx="15180714" cy="8539151"/>
          </a:xfrm>
          <a:custGeom>
            <a:avLst/>
            <a:gdLst/>
            <a:ahLst/>
            <a:cxnLst/>
            <a:rect r="r" b="b" t="t" l="l"/>
            <a:pathLst>
              <a:path h="8539151" w="15180714">
                <a:moveTo>
                  <a:pt x="0" y="0"/>
                </a:moveTo>
                <a:lnTo>
                  <a:pt x="15180714" y="0"/>
                </a:lnTo>
                <a:lnTo>
                  <a:pt x="15180714" y="8539151"/>
                </a:lnTo>
                <a:lnTo>
                  <a:pt x="0" y="8539151"/>
                </a:lnTo>
                <a:lnTo>
                  <a:pt x="0" y="0"/>
                </a:lnTo>
                <a:close/>
              </a:path>
            </a:pathLst>
          </a:custGeom>
          <a:blipFill>
            <a:blip r:embed="rId2"/>
            <a:stretch>
              <a:fillRect l="0" t="0" r="0" b="0"/>
            </a:stretch>
          </a:blipFill>
        </p:spPr>
      </p:sp>
      <p:sp>
        <p:nvSpPr>
          <p:cNvPr name="TextBox 3" id="3"/>
          <p:cNvSpPr txBox="true"/>
          <p:nvPr/>
        </p:nvSpPr>
        <p:spPr>
          <a:xfrm rot="0">
            <a:off x="1479308" y="763925"/>
            <a:ext cx="6556248"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1.9 EXAM NOTIFICATION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32360" y="468202"/>
            <a:ext cx="16535007" cy="9300942"/>
          </a:xfrm>
          <a:custGeom>
            <a:avLst/>
            <a:gdLst/>
            <a:ahLst/>
            <a:cxnLst/>
            <a:rect r="r" b="b" t="t" l="l"/>
            <a:pathLst>
              <a:path h="9300942" w="16535007">
                <a:moveTo>
                  <a:pt x="0" y="0"/>
                </a:moveTo>
                <a:lnTo>
                  <a:pt x="16535007" y="0"/>
                </a:lnTo>
                <a:lnTo>
                  <a:pt x="16535007" y="9300942"/>
                </a:lnTo>
                <a:lnTo>
                  <a:pt x="0" y="9300942"/>
                </a:lnTo>
                <a:lnTo>
                  <a:pt x="0" y="0"/>
                </a:lnTo>
                <a:close/>
              </a:path>
            </a:pathLst>
          </a:custGeom>
          <a:blipFill>
            <a:blip r:embed="rId2"/>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00942" y="1463560"/>
            <a:ext cx="15686115" cy="8823440"/>
          </a:xfrm>
          <a:custGeom>
            <a:avLst/>
            <a:gdLst/>
            <a:ahLst/>
            <a:cxnLst/>
            <a:rect r="r" b="b" t="t" l="l"/>
            <a:pathLst>
              <a:path h="8823440" w="15686115">
                <a:moveTo>
                  <a:pt x="0" y="0"/>
                </a:moveTo>
                <a:lnTo>
                  <a:pt x="15686116" y="0"/>
                </a:lnTo>
                <a:lnTo>
                  <a:pt x="15686116" y="8823440"/>
                </a:lnTo>
                <a:lnTo>
                  <a:pt x="0" y="8823440"/>
                </a:lnTo>
                <a:lnTo>
                  <a:pt x="0" y="0"/>
                </a:lnTo>
                <a:close/>
              </a:path>
            </a:pathLst>
          </a:custGeom>
          <a:blipFill>
            <a:blip r:embed="rId2"/>
            <a:stretch>
              <a:fillRect l="0" t="0" r="0" b="0"/>
            </a:stretch>
          </a:blipFill>
        </p:spPr>
      </p:sp>
      <p:sp>
        <p:nvSpPr>
          <p:cNvPr name="TextBox 3" id="3"/>
          <p:cNvSpPr txBox="true"/>
          <p:nvPr/>
        </p:nvSpPr>
        <p:spPr>
          <a:xfrm rot="0">
            <a:off x="1300942" y="531519"/>
            <a:ext cx="5801868" cy="732210"/>
          </a:xfrm>
          <a:prstGeom prst="rect">
            <a:avLst/>
          </a:prstGeom>
        </p:spPr>
        <p:txBody>
          <a:bodyPr anchor="t" rtlCol="false" tIns="0" lIns="0" bIns="0" rIns="0">
            <a:spAutoFit/>
          </a:bodyPr>
          <a:lstStyle/>
          <a:p>
            <a:pPr algn="ctr">
              <a:lnSpc>
                <a:spcPts val="6048"/>
              </a:lnSpc>
            </a:pPr>
            <a:r>
              <a:rPr lang="en-US" sz="4320" b="true">
                <a:solidFill>
                  <a:srgbClr val="000000"/>
                </a:solidFill>
                <a:latin typeface="Canva Sans Bold"/>
                <a:ea typeface="Canva Sans Bold"/>
                <a:cs typeface="Canva Sans Bold"/>
                <a:sym typeface="Canva Sans Bold"/>
              </a:rPr>
              <a:t>2.1 MENTOR MODULE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474" y="527329"/>
            <a:ext cx="16549526" cy="9309108"/>
          </a:xfrm>
          <a:custGeom>
            <a:avLst/>
            <a:gdLst/>
            <a:ahLst/>
            <a:cxnLst/>
            <a:rect r="r" b="b" t="t" l="l"/>
            <a:pathLst>
              <a:path h="9309108" w="16549526">
                <a:moveTo>
                  <a:pt x="0" y="0"/>
                </a:moveTo>
                <a:lnTo>
                  <a:pt x="16549526" y="0"/>
                </a:lnTo>
                <a:lnTo>
                  <a:pt x="16549526" y="9309109"/>
                </a:lnTo>
                <a:lnTo>
                  <a:pt x="0" y="9309109"/>
                </a:lnTo>
                <a:lnTo>
                  <a:pt x="0" y="0"/>
                </a:lnTo>
                <a:close/>
              </a:path>
            </a:pathLst>
          </a:custGeom>
          <a:blipFill>
            <a:blip r:embed="rId2"/>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9085" y="1028700"/>
            <a:ext cx="17189830" cy="9604999"/>
          </a:xfrm>
          <a:custGeom>
            <a:avLst/>
            <a:gdLst/>
            <a:ahLst/>
            <a:cxnLst/>
            <a:rect r="r" b="b" t="t" l="l"/>
            <a:pathLst>
              <a:path h="9604999" w="17189830">
                <a:moveTo>
                  <a:pt x="0" y="0"/>
                </a:moveTo>
                <a:lnTo>
                  <a:pt x="17189830" y="0"/>
                </a:lnTo>
                <a:lnTo>
                  <a:pt x="17189830" y="9604999"/>
                </a:lnTo>
                <a:lnTo>
                  <a:pt x="0" y="9604999"/>
                </a:lnTo>
                <a:lnTo>
                  <a:pt x="0" y="0"/>
                </a:lnTo>
                <a:close/>
              </a:path>
            </a:pathLst>
          </a:custGeom>
          <a:blipFill>
            <a:blip r:embed="rId2"/>
            <a:stretch>
              <a:fillRect l="0" t="-669" r="0" b="0"/>
            </a:stretch>
          </a:blipFill>
        </p:spPr>
      </p:sp>
      <p:sp>
        <p:nvSpPr>
          <p:cNvPr name="TextBox 3" id="3"/>
          <p:cNvSpPr txBox="true"/>
          <p:nvPr/>
        </p:nvSpPr>
        <p:spPr>
          <a:xfrm rot="0">
            <a:off x="1028700" y="133575"/>
            <a:ext cx="5093448" cy="700841"/>
          </a:xfrm>
          <a:prstGeom prst="rect">
            <a:avLst/>
          </a:prstGeom>
        </p:spPr>
        <p:txBody>
          <a:bodyPr anchor="t" rtlCol="false" tIns="0" lIns="0" bIns="0" rIns="0">
            <a:spAutoFit/>
          </a:bodyPr>
          <a:lstStyle/>
          <a:p>
            <a:pPr algn="ctr">
              <a:lnSpc>
                <a:spcPts val="5758"/>
              </a:lnSpc>
            </a:pPr>
            <a:r>
              <a:rPr lang="en-US" sz="4113" b="true">
                <a:solidFill>
                  <a:srgbClr val="000000"/>
                </a:solidFill>
                <a:latin typeface="Canva Sans Bold"/>
                <a:ea typeface="Canva Sans Bold"/>
                <a:cs typeface="Canva Sans Bold"/>
                <a:sym typeface="Canva Sans Bold"/>
              </a:rPr>
              <a:t>3.1 ADMIN MODULE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76175" y="324098"/>
            <a:ext cx="17117647" cy="9628677"/>
          </a:xfrm>
          <a:custGeom>
            <a:avLst/>
            <a:gdLst/>
            <a:ahLst/>
            <a:cxnLst/>
            <a:rect r="r" b="b" t="t" l="l"/>
            <a:pathLst>
              <a:path h="9628677" w="17117647">
                <a:moveTo>
                  <a:pt x="0" y="0"/>
                </a:moveTo>
                <a:lnTo>
                  <a:pt x="17117647" y="0"/>
                </a:lnTo>
                <a:lnTo>
                  <a:pt x="17117647" y="9628677"/>
                </a:lnTo>
                <a:lnTo>
                  <a:pt x="0" y="9628677"/>
                </a:lnTo>
                <a:lnTo>
                  <a:pt x="0" y="0"/>
                </a:lnTo>
                <a:close/>
              </a:path>
            </a:pathLst>
          </a:custGeom>
          <a:blipFill>
            <a:blip r:embed="rId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8681" y="291758"/>
            <a:ext cx="17281417" cy="9720797"/>
          </a:xfrm>
          <a:custGeom>
            <a:avLst/>
            <a:gdLst/>
            <a:ahLst/>
            <a:cxnLst/>
            <a:rect r="r" b="b" t="t" l="l"/>
            <a:pathLst>
              <a:path h="9720797" w="17281417">
                <a:moveTo>
                  <a:pt x="0" y="0"/>
                </a:moveTo>
                <a:lnTo>
                  <a:pt x="17281417" y="0"/>
                </a:lnTo>
                <a:lnTo>
                  <a:pt x="17281417" y="9720797"/>
                </a:lnTo>
                <a:lnTo>
                  <a:pt x="0" y="9720797"/>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2380" y="361338"/>
            <a:ext cx="17074092" cy="9604177"/>
          </a:xfrm>
          <a:custGeom>
            <a:avLst/>
            <a:gdLst/>
            <a:ahLst/>
            <a:cxnLst/>
            <a:rect r="r" b="b" t="t" l="l"/>
            <a:pathLst>
              <a:path h="9604177" w="17074092">
                <a:moveTo>
                  <a:pt x="0" y="0"/>
                </a:moveTo>
                <a:lnTo>
                  <a:pt x="17074091" y="0"/>
                </a:lnTo>
                <a:lnTo>
                  <a:pt x="17074091" y="9604177"/>
                </a:lnTo>
                <a:lnTo>
                  <a:pt x="0" y="9604177"/>
                </a:lnTo>
                <a:lnTo>
                  <a:pt x="0" y="0"/>
                </a:lnTo>
                <a:close/>
              </a:path>
            </a:pathLst>
          </a:custGeom>
          <a:blipFill>
            <a:blip r:embed="rId2"/>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74433" y="323118"/>
            <a:ext cx="17127520" cy="9634230"/>
          </a:xfrm>
          <a:custGeom>
            <a:avLst/>
            <a:gdLst/>
            <a:ahLst/>
            <a:cxnLst/>
            <a:rect r="r" b="b" t="t" l="l"/>
            <a:pathLst>
              <a:path h="9634230" w="17127520">
                <a:moveTo>
                  <a:pt x="0" y="0"/>
                </a:moveTo>
                <a:lnTo>
                  <a:pt x="17127520" y="0"/>
                </a:lnTo>
                <a:lnTo>
                  <a:pt x="17127520" y="9634230"/>
                </a:lnTo>
                <a:lnTo>
                  <a:pt x="0" y="9634230"/>
                </a:lnTo>
                <a:lnTo>
                  <a:pt x="0" y="0"/>
                </a:lnTo>
                <a:close/>
              </a:path>
            </a:pathLst>
          </a:custGeom>
          <a:blipFill>
            <a:blip r:embed="rId2"/>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0123" y="151944"/>
            <a:ext cx="17559593" cy="9877271"/>
          </a:xfrm>
          <a:custGeom>
            <a:avLst/>
            <a:gdLst/>
            <a:ahLst/>
            <a:cxnLst/>
            <a:rect r="r" b="b" t="t" l="l"/>
            <a:pathLst>
              <a:path h="9877271" w="17559593">
                <a:moveTo>
                  <a:pt x="0" y="0"/>
                </a:moveTo>
                <a:lnTo>
                  <a:pt x="17559593" y="0"/>
                </a:lnTo>
                <a:lnTo>
                  <a:pt x="17559593" y="9877271"/>
                </a:lnTo>
                <a:lnTo>
                  <a:pt x="0" y="9877271"/>
                </a:lnTo>
                <a:lnTo>
                  <a:pt x="0" y="0"/>
                </a:lnTo>
                <a:close/>
              </a:path>
            </a:pathLst>
          </a:custGeom>
          <a:blipFill>
            <a:blip r:embed="rId2"/>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7887" y="223811"/>
            <a:ext cx="17545075" cy="9869104"/>
          </a:xfrm>
          <a:custGeom>
            <a:avLst/>
            <a:gdLst/>
            <a:ahLst/>
            <a:cxnLst/>
            <a:rect r="r" b="b" t="t" l="l"/>
            <a:pathLst>
              <a:path h="9869104" w="17545075">
                <a:moveTo>
                  <a:pt x="0" y="0"/>
                </a:moveTo>
                <a:lnTo>
                  <a:pt x="17545074" y="0"/>
                </a:lnTo>
                <a:lnTo>
                  <a:pt x="17545074" y="9869105"/>
                </a:lnTo>
                <a:lnTo>
                  <a:pt x="0" y="9869105"/>
                </a:lnTo>
                <a:lnTo>
                  <a:pt x="0" y="0"/>
                </a:lnTo>
                <a:close/>
              </a:path>
            </a:pathLst>
          </a:custGeom>
          <a:blipFill>
            <a:blip r:embed="rId2"/>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8070" y="190164"/>
            <a:ext cx="17653674" cy="9930191"/>
          </a:xfrm>
          <a:custGeom>
            <a:avLst/>
            <a:gdLst/>
            <a:ahLst/>
            <a:cxnLst/>
            <a:rect r="r" b="b" t="t" l="l"/>
            <a:pathLst>
              <a:path h="9930191" w="17653674">
                <a:moveTo>
                  <a:pt x="0" y="0"/>
                </a:moveTo>
                <a:lnTo>
                  <a:pt x="17653674" y="0"/>
                </a:lnTo>
                <a:lnTo>
                  <a:pt x="17653674" y="9930192"/>
                </a:lnTo>
                <a:lnTo>
                  <a:pt x="0" y="9930192"/>
                </a:lnTo>
                <a:lnTo>
                  <a:pt x="0" y="0"/>
                </a:lnTo>
                <a:close/>
              </a:path>
            </a:pathLst>
          </a:custGeom>
          <a:blipFill>
            <a:blip r:embed="rId2"/>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4275" y="227405"/>
            <a:ext cx="17432410" cy="9805731"/>
          </a:xfrm>
          <a:custGeom>
            <a:avLst/>
            <a:gdLst/>
            <a:ahLst/>
            <a:cxnLst/>
            <a:rect r="r" b="b" t="t" l="l"/>
            <a:pathLst>
              <a:path h="9805731" w="17432410">
                <a:moveTo>
                  <a:pt x="0" y="0"/>
                </a:moveTo>
                <a:lnTo>
                  <a:pt x="17432410" y="0"/>
                </a:lnTo>
                <a:lnTo>
                  <a:pt x="17432410" y="9805730"/>
                </a:lnTo>
                <a:lnTo>
                  <a:pt x="0" y="9805730"/>
                </a:lnTo>
                <a:lnTo>
                  <a:pt x="0" y="0"/>
                </a:lnTo>
                <a:close/>
              </a:path>
            </a:pathLst>
          </a:custGeom>
          <a:blipFill>
            <a:blip r:embed="rId2"/>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3094" y="333615"/>
            <a:ext cx="17244095" cy="9699803"/>
          </a:xfrm>
          <a:custGeom>
            <a:avLst/>
            <a:gdLst/>
            <a:ahLst/>
            <a:cxnLst/>
            <a:rect r="r" b="b" t="t" l="l"/>
            <a:pathLst>
              <a:path h="9699803" w="17244095">
                <a:moveTo>
                  <a:pt x="0" y="0"/>
                </a:moveTo>
                <a:lnTo>
                  <a:pt x="17244094" y="0"/>
                </a:lnTo>
                <a:lnTo>
                  <a:pt x="17244094" y="9699803"/>
                </a:lnTo>
                <a:lnTo>
                  <a:pt x="0" y="9699803"/>
                </a:lnTo>
                <a:lnTo>
                  <a:pt x="0" y="0"/>
                </a:lnTo>
                <a:close/>
              </a:path>
            </a:pathLst>
          </a:custGeom>
          <a:blipFill>
            <a:blip r:embed="rId2"/>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1C064"/>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6EBD4"/>
            </a:solidFill>
          </p:spPr>
        </p:sp>
      </p:grpSp>
      <p:grpSp>
        <p:nvGrpSpPr>
          <p:cNvPr name="Group 6" id="6"/>
          <p:cNvGrpSpPr/>
          <p:nvPr/>
        </p:nvGrpSpPr>
        <p:grpSpPr>
          <a:xfrm rot="0">
            <a:off x="16628307" y="9846183"/>
            <a:ext cx="1609058" cy="384334"/>
            <a:chOff x="0" y="0"/>
            <a:chExt cx="2145411" cy="512445"/>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123" t="0" r="-123" b="0"/>
              </a:stretch>
            </a:blipFill>
          </p:spPr>
        </p:sp>
      </p:grpSp>
      <p:grpSp>
        <p:nvGrpSpPr>
          <p:cNvPr name="Group 8" id="8"/>
          <p:cNvGrpSpPr/>
          <p:nvPr/>
        </p:nvGrpSpPr>
        <p:grpSpPr>
          <a:xfrm rot="0">
            <a:off x="11095492" y="0"/>
            <a:ext cx="7206329" cy="10295001"/>
            <a:chOff x="0" y="0"/>
            <a:chExt cx="9608439" cy="13726668"/>
          </a:xfrm>
        </p:grpSpPr>
        <p:sp>
          <p:nvSpPr>
            <p:cNvPr name="Freeform 9" id="9"/>
            <p:cNvSpPr/>
            <p:nvPr/>
          </p:nvSpPr>
          <p:spPr>
            <a:xfrm flipH="false" flipV="false" rot="0">
              <a:off x="0" y="0"/>
              <a:ext cx="9608439" cy="13726668"/>
            </a:xfrm>
            <a:custGeom>
              <a:avLst/>
              <a:gdLst/>
              <a:ahLst/>
              <a:cxnLst/>
              <a:rect r="r" b="b" t="t" l="l"/>
              <a:pathLst>
                <a:path h="13726668" w="9608439">
                  <a:moveTo>
                    <a:pt x="0" y="0"/>
                  </a:moveTo>
                  <a:lnTo>
                    <a:pt x="9608439" y="0"/>
                  </a:lnTo>
                  <a:lnTo>
                    <a:pt x="9608439" y="13726668"/>
                  </a:lnTo>
                  <a:lnTo>
                    <a:pt x="0" y="13726668"/>
                  </a:lnTo>
                  <a:lnTo>
                    <a:pt x="0" y="0"/>
                  </a:lnTo>
                  <a:close/>
                </a:path>
              </a:pathLst>
            </a:custGeom>
            <a:blipFill>
              <a:blip r:embed="rId5"/>
              <a:stretch>
                <a:fillRect l="-29" t="0" r="-29" b="0"/>
              </a:stretch>
            </a:blipFill>
          </p:spPr>
        </p:sp>
      </p:grpSp>
      <p:sp>
        <p:nvSpPr>
          <p:cNvPr name="TextBox 10" id="10"/>
          <p:cNvSpPr txBox="true"/>
          <p:nvPr/>
        </p:nvSpPr>
        <p:spPr>
          <a:xfrm rot="0">
            <a:off x="992991" y="726910"/>
            <a:ext cx="9452677" cy="663492"/>
          </a:xfrm>
          <a:prstGeom prst="rect">
            <a:avLst/>
          </a:prstGeom>
        </p:spPr>
        <p:txBody>
          <a:bodyPr anchor="t" rtlCol="false" tIns="0" lIns="0" bIns="0" rIns="0">
            <a:spAutoFit/>
          </a:bodyPr>
          <a:lstStyle/>
          <a:p>
            <a:pPr algn="l">
              <a:lnSpc>
                <a:spcPts val="4589"/>
              </a:lnSpc>
            </a:pPr>
            <a:r>
              <a:rPr lang="en-US" sz="3677">
                <a:solidFill>
                  <a:srgbClr val="403011"/>
                </a:solidFill>
                <a:latin typeface="Arimo"/>
                <a:ea typeface="Arimo"/>
                <a:cs typeface="Arimo"/>
                <a:sym typeface="Arimo"/>
              </a:rPr>
              <a:t>Conclusion &amp; Future Scope</a:t>
            </a:r>
          </a:p>
        </p:txBody>
      </p:sp>
      <p:sp>
        <p:nvSpPr>
          <p:cNvPr name="TextBox 11" id="11"/>
          <p:cNvSpPr txBox="true"/>
          <p:nvPr/>
        </p:nvSpPr>
        <p:spPr>
          <a:xfrm rot="0">
            <a:off x="992991" y="1548832"/>
            <a:ext cx="9452677" cy="1164193"/>
          </a:xfrm>
          <a:prstGeom prst="rect">
            <a:avLst/>
          </a:prstGeom>
        </p:spPr>
        <p:txBody>
          <a:bodyPr anchor="t" rtlCol="false" tIns="0" lIns="0" bIns="0" rIns="0">
            <a:spAutoFit/>
          </a:bodyPr>
          <a:lstStyle/>
          <a:p>
            <a:pPr algn="l">
              <a:lnSpc>
                <a:spcPts val="2637"/>
              </a:lnSpc>
            </a:pPr>
            <a:r>
              <a:rPr lang="en-US" sz="1800">
                <a:solidFill>
                  <a:srgbClr val="403011"/>
                </a:solidFill>
                <a:latin typeface="Arimo"/>
                <a:ea typeface="Arimo"/>
                <a:cs typeface="Arimo"/>
                <a:sym typeface="Arimo"/>
              </a:rPr>
              <a:t>     This platform unifies AI, ML, RAG, and automated data ingestion to provide personalized     competitive-exam preparation and connect students, mentors, and administrators efficiently.   </a:t>
            </a:r>
          </a:p>
        </p:txBody>
      </p:sp>
      <p:sp>
        <p:nvSpPr>
          <p:cNvPr name="Freeform 12" id="12" descr="preencoded.png"/>
          <p:cNvSpPr/>
          <p:nvPr/>
        </p:nvSpPr>
        <p:spPr>
          <a:xfrm flipH="false" flipV="false" rot="0">
            <a:off x="992991" y="2931824"/>
            <a:ext cx="3021111" cy="3772319"/>
          </a:xfrm>
          <a:custGeom>
            <a:avLst/>
            <a:gdLst/>
            <a:ahLst/>
            <a:cxnLst/>
            <a:rect r="r" b="b" t="t" l="l"/>
            <a:pathLst>
              <a:path h="3772319" w="3021111">
                <a:moveTo>
                  <a:pt x="0" y="0"/>
                </a:moveTo>
                <a:lnTo>
                  <a:pt x="3021111" y="0"/>
                </a:lnTo>
                <a:lnTo>
                  <a:pt x="3021111" y="3772319"/>
                </a:lnTo>
                <a:lnTo>
                  <a:pt x="0" y="3772319"/>
                </a:lnTo>
                <a:lnTo>
                  <a:pt x="0" y="0"/>
                </a:lnTo>
                <a:close/>
              </a:path>
            </a:pathLst>
          </a:custGeom>
          <a:blipFill>
            <a:blip r:embed="rId6">
              <a:extLst>
                <a:ext uri="{96DAC541-7B7A-43D3-8B79-37D633B846F1}">
                  <asvg:svgBlip xmlns:asvg="http://schemas.microsoft.com/office/drawing/2016/SVG/main" r:embed="rId7"/>
                </a:ext>
              </a:extLst>
            </a:blip>
            <a:stretch>
              <a:fillRect l="-9" t="0" r="-8" b="0"/>
            </a:stretch>
          </a:blipFill>
        </p:spPr>
      </p:sp>
      <p:grpSp>
        <p:nvGrpSpPr>
          <p:cNvPr name="Group 13" id="13"/>
          <p:cNvGrpSpPr/>
          <p:nvPr/>
        </p:nvGrpSpPr>
        <p:grpSpPr>
          <a:xfrm rot="0">
            <a:off x="2362571" y="3108027"/>
            <a:ext cx="281940" cy="352406"/>
            <a:chOff x="0" y="0"/>
            <a:chExt cx="375920" cy="469875"/>
          </a:xfrm>
        </p:grpSpPr>
        <p:sp>
          <p:nvSpPr>
            <p:cNvPr name="Freeform 14" id="14"/>
            <p:cNvSpPr/>
            <p:nvPr/>
          </p:nvSpPr>
          <p:spPr>
            <a:xfrm flipH="false" flipV="false" rot="0">
              <a:off x="0" y="0"/>
              <a:ext cx="375920" cy="469900"/>
            </a:xfrm>
            <a:custGeom>
              <a:avLst/>
              <a:gdLst/>
              <a:ahLst/>
              <a:cxnLst/>
              <a:rect r="r" b="b" t="t" l="l"/>
              <a:pathLst>
                <a:path h="469900" w="375920">
                  <a:moveTo>
                    <a:pt x="0" y="0"/>
                  </a:moveTo>
                  <a:lnTo>
                    <a:pt x="375920" y="0"/>
                  </a:lnTo>
                  <a:lnTo>
                    <a:pt x="375920" y="469900"/>
                  </a:lnTo>
                  <a:lnTo>
                    <a:pt x="0" y="469900"/>
                  </a:lnTo>
                  <a:close/>
                </a:path>
              </a:pathLst>
            </a:custGeom>
            <a:blipFill>
              <a:blip r:embed="rId8">
                <a:alphaModFix amt="0"/>
              </a:blip>
              <a:stretch>
                <a:fillRect l="-110479" t="0" r="-110483" b="5"/>
              </a:stretch>
            </a:blipFill>
          </p:spPr>
        </p:sp>
      </p:grpSp>
      <p:grpSp>
        <p:nvGrpSpPr>
          <p:cNvPr name="Group 15" id="15"/>
          <p:cNvGrpSpPr/>
          <p:nvPr/>
        </p:nvGrpSpPr>
        <p:grpSpPr>
          <a:xfrm rot="0">
            <a:off x="2362571" y="3093739"/>
            <a:ext cx="281940" cy="366693"/>
            <a:chOff x="0" y="0"/>
            <a:chExt cx="375920" cy="488925"/>
          </a:xfrm>
        </p:grpSpPr>
        <p:sp>
          <p:nvSpPr>
            <p:cNvPr name="Freeform 16" id="16"/>
            <p:cNvSpPr/>
            <p:nvPr/>
          </p:nvSpPr>
          <p:spPr>
            <a:xfrm flipH="false" flipV="false" rot="0">
              <a:off x="0" y="0"/>
              <a:ext cx="375920" cy="488925"/>
            </a:xfrm>
            <a:custGeom>
              <a:avLst/>
              <a:gdLst/>
              <a:ahLst/>
              <a:cxnLst/>
              <a:rect r="r" b="b" t="t" l="l"/>
              <a:pathLst>
                <a:path h="488925" w="375920">
                  <a:moveTo>
                    <a:pt x="0" y="0"/>
                  </a:moveTo>
                  <a:lnTo>
                    <a:pt x="375920" y="0"/>
                  </a:lnTo>
                  <a:lnTo>
                    <a:pt x="375920" y="488925"/>
                  </a:lnTo>
                  <a:lnTo>
                    <a:pt x="0" y="488925"/>
                  </a:lnTo>
                  <a:close/>
                </a:path>
              </a:pathLst>
            </a:custGeom>
            <a:blipFill>
              <a:blip r:embed="rId9">
                <a:alphaModFix amt="0"/>
              </a:blip>
              <a:stretch>
                <a:fillRect l="-116872" t="0" r="-116872" b="0"/>
              </a:stretch>
            </a:blipFill>
          </p:spPr>
        </p:sp>
        <p:sp>
          <p:nvSpPr>
            <p:cNvPr name="TextBox 17" id="17"/>
            <p:cNvSpPr txBox="true"/>
            <p:nvPr/>
          </p:nvSpPr>
          <p:spPr>
            <a:xfrm>
              <a:off x="0" y="-19050"/>
              <a:ext cx="375920" cy="507975"/>
            </a:xfrm>
            <a:prstGeom prst="rect">
              <a:avLst/>
            </a:prstGeom>
          </p:spPr>
          <p:txBody>
            <a:bodyPr anchor="ctr" rtlCol="false" tIns="0" lIns="0" bIns="0" rIns="0"/>
            <a:lstStyle/>
            <a:p>
              <a:pPr algn="ctr">
                <a:lnSpc>
                  <a:spcPts val="2612"/>
                </a:lnSpc>
              </a:pPr>
              <a:r>
                <a:rPr lang="en-US" sz="2175">
                  <a:solidFill>
                    <a:srgbClr val="FFFFFF"/>
                  </a:solidFill>
                  <a:latin typeface="Arimo"/>
                  <a:ea typeface="Arimo"/>
                  <a:cs typeface="Arimo"/>
                  <a:sym typeface="Arimo"/>
                </a:rPr>
                <a:t>1</a:t>
              </a:r>
            </a:p>
          </p:txBody>
        </p:sp>
      </p:grpSp>
      <p:sp>
        <p:nvSpPr>
          <p:cNvPr name="TextBox 18" id="18"/>
          <p:cNvSpPr txBox="true"/>
          <p:nvPr/>
        </p:nvSpPr>
        <p:spPr>
          <a:xfrm rot="0">
            <a:off x="1256462" y="3814515"/>
            <a:ext cx="2494159" cy="424301"/>
          </a:xfrm>
          <a:prstGeom prst="rect">
            <a:avLst/>
          </a:prstGeom>
        </p:spPr>
        <p:txBody>
          <a:bodyPr anchor="t" rtlCol="false" tIns="0" lIns="0" bIns="0" rIns="0">
            <a:spAutoFit/>
          </a:bodyPr>
          <a:lstStyle/>
          <a:p>
            <a:pPr algn="l">
              <a:lnSpc>
                <a:spcPts val="2809"/>
              </a:lnSpc>
            </a:pPr>
            <a:r>
              <a:rPr lang="en-US" sz="2250">
                <a:solidFill>
                  <a:srgbClr val="403011"/>
                </a:solidFill>
                <a:latin typeface="Arimo"/>
                <a:ea typeface="Arimo"/>
                <a:cs typeface="Arimo"/>
                <a:sym typeface="Arimo"/>
              </a:rPr>
              <a:t>Multilingual AI</a:t>
            </a:r>
          </a:p>
        </p:txBody>
      </p:sp>
      <p:sp>
        <p:nvSpPr>
          <p:cNvPr name="TextBox 19" id="19"/>
          <p:cNvSpPr txBox="true"/>
          <p:nvPr/>
        </p:nvSpPr>
        <p:spPr>
          <a:xfrm rot="0">
            <a:off x="1256462" y="4222090"/>
            <a:ext cx="2494159" cy="1164193"/>
          </a:xfrm>
          <a:prstGeom prst="rect">
            <a:avLst/>
          </a:prstGeom>
        </p:spPr>
        <p:txBody>
          <a:bodyPr anchor="t" rtlCol="false" tIns="0" lIns="0" bIns="0" rIns="0">
            <a:spAutoFit/>
          </a:bodyPr>
          <a:lstStyle/>
          <a:p>
            <a:pPr algn="l">
              <a:lnSpc>
                <a:spcPts val="2637"/>
              </a:lnSpc>
            </a:pPr>
            <a:r>
              <a:rPr lang="en-US" sz="1800">
                <a:solidFill>
                  <a:srgbClr val="403011"/>
                </a:solidFill>
                <a:latin typeface="Arimo"/>
                <a:ea typeface="Arimo"/>
                <a:cs typeface="Arimo"/>
                <a:sym typeface="Arimo"/>
              </a:rPr>
              <a:t>Extend assistance to multiple languages to broaden accessibility.</a:t>
            </a:r>
          </a:p>
        </p:txBody>
      </p:sp>
      <p:sp>
        <p:nvSpPr>
          <p:cNvPr name="Freeform 20" id="20" descr="preencoded.png"/>
          <p:cNvSpPr/>
          <p:nvPr/>
        </p:nvSpPr>
        <p:spPr>
          <a:xfrm flipH="false" flipV="false" rot="0">
            <a:off x="4208621" y="2931824"/>
            <a:ext cx="3021263" cy="3772319"/>
          </a:xfrm>
          <a:custGeom>
            <a:avLst/>
            <a:gdLst/>
            <a:ahLst/>
            <a:cxnLst/>
            <a:rect r="r" b="b" t="t" l="l"/>
            <a:pathLst>
              <a:path h="3772319" w="3021263">
                <a:moveTo>
                  <a:pt x="0" y="0"/>
                </a:moveTo>
                <a:lnTo>
                  <a:pt x="3021264" y="0"/>
                </a:lnTo>
                <a:lnTo>
                  <a:pt x="3021264" y="3772319"/>
                </a:lnTo>
                <a:lnTo>
                  <a:pt x="0" y="3772319"/>
                </a:lnTo>
                <a:lnTo>
                  <a:pt x="0" y="0"/>
                </a:lnTo>
                <a:close/>
              </a:path>
            </a:pathLst>
          </a:custGeom>
          <a:blipFill>
            <a:blip r:embed="rId10">
              <a:extLst>
                <a:ext uri="{96DAC541-7B7A-43D3-8B79-37D633B846F1}">
                  <asvg:svgBlip xmlns:asvg="http://schemas.microsoft.com/office/drawing/2016/SVG/main" r:embed="rId11"/>
                </a:ext>
              </a:extLst>
            </a:blip>
            <a:stretch>
              <a:fillRect l="-6" t="0" r="-6" b="0"/>
            </a:stretch>
          </a:blipFill>
        </p:spPr>
      </p:sp>
      <p:grpSp>
        <p:nvGrpSpPr>
          <p:cNvPr name="Group 21" id="21"/>
          <p:cNvGrpSpPr/>
          <p:nvPr/>
        </p:nvGrpSpPr>
        <p:grpSpPr>
          <a:xfrm rot="0">
            <a:off x="5578202" y="3108027"/>
            <a:ext cx="281940" cy="352406"/>
            <a:chOff x="0" y="0"/>
            <a:chExt cx="375920" cy="469875"/>
          </a:xfrm>
        </p:grpSpPr>
        <p:sp>
          <p:nvSpPr>
            <p:cNvPr name="Freeform 22" id="22"/>
            <p:cNvSpPr/>
            <p:nvPr/>
          </p:nvSpPr>
          <p:spPr>
            <a:xfrm flipH="false" flipV="false" rot="0">
              <a:off x="0" y="0"/>
              <a:ext cx="375920" cy="469900"/>
            </a:xfrm>
            <a:custGeom>
              <a:avLst/>
              <a:gdLst/>
              <a:ahLst/>
              <a:cxnLst/>
              <a:rect r="r" b="b" t="t" l="l"/>
              <a:pathLst>
                <a:path h="469900" w="375920">
                  <a:moveTo>
                    <a:pt x="0" y="0"/>
                  </a:moveTo>
                  <a:lnTo>
                    <a:pt x="375920" y="0"/>
                  </a:lnTo>
                  <a:lnTo>
                    <a:pt x="375920" y="469900"/>
                  </a:lnTo>
                  <a:lnTo>
                    <a:pt x="0" y="469900"/>
                  </a:lnTo>
                  <a:close/>
                </a:path>
              </a:pathLst>
            </a:custGeom>
            <a:blipFill>
              <a:blip r:embed="rId8">
                <a:alphaModFix amt="0"/>
              </a:blip>
              <a:stretch>
                <a:fillRect l="-110479" t="0" r="-110483" b="5"/>
              </a:stretch>
            </a:blipFill>
          </p:spPr>
        </p:sp>
      </p:grpSp>
      <p:grpSp>
        <p:nvGrpSpPr>
          <p:cNvPr name="Group 23" id="23"/>
          <p:cNvGrpSpPr/>
          <p:nvPr/>
        </p:nvGrpSpPr>
        <p:grpSpPr>
          <a:xfrm rot="0">
            <a:off x="5578202" y="3093739"/>
            <a:ext cx="281940" cy="366693"/>
            <a:chOff x="0" y="0"/>
            <a:chExt cx="375920" cy="488925"/>
          </a:xfrm>
        </p:grpSpPr>
        <p:sp>
          <p:nvSpPr>
            <p:cNvPr name="Freeform 24" id="24"/>
            <p:cNvSpPr/>
            <p:nvPr/>
          </p:nvSpPr>
          <p:spPr>
            <a:xfrm flipH="false" flipV="false" rot="0">
              <a:off x="0" y="0"/>
              <a:ext cx="375920" cy="488925"/>
            </a:xfrm>
            <a:custGeom>
              <a:avLst/>
              <a:gdLst/>
              <a:ahLst/>
              <a:cxnLst/>
              <a:rect r="r" b="b" t="t" l="l"/>
              <a:pathLst>
                <a:path h="488925" w="375920">
                  <a:moveTo>
                    <a:pt x="0" y="0"/>
                  </a:moveTo>
                  <a:lnTo>
                    <a:pt x="375920" y="0"/>
                  </a:lnTo>
                  <a:lnTo>
                    <a:pt x="375920" y="488925"/>
                  </a:lnTo>
                  <a:lnTo>
                    <a:pt x="0" y="488925"/>
                  </a:lnTo>
                  <a:close/>
                </a:path>
              </a:pathLst>
            </a:custGeom>
            <a:blipFill>
              <a:blip r:embed="rId9">
                <a:alphaModFix amt="0"/>
              </a:blip>
              <a:stretch>
                <a:fillRect l="-116872" t="0" r="-116872" b="0"/>
              </a:stretch>
            </a:blipFill>
          </p:spPr>
        </p:sp>
        <p:sp>
          <p:nvSpPr>
            <p:cNvPr name="TextBox 25" id="25"/>
            <p:cNvSpPr txBox="true"/>
            <p:nvPr/>
          </p:nvSpPr>
          <p:spPr>
            <a:xfrm>
              <a:off x="0" y="-19050"/>
              <a:ext cx="375920" cy="507975"/>
            </a:xfrm>
            <a:prstGeom prst="rect">
              <a:avLst/>
            </a:prstGeom>
          </p:spPr>
          <p:txBody>
            <a:bodyPr anchor="ctr" rtlCol="false" tIns="0" lIns="0" bIns="0" rIns="0"/>
            <a:lstStyle/>
            <a:p>
              <a:pPr algn="ctr">
                <a:lnSpc>
                  <a:spcPts val="2612"/>
                </a:lnSpc>
              </a:pPr>
              <a:r>
                <a:rPr lang="en-US" sz="2175">
                  <a:solidFill>
                    <a:srgbClr val="FFFFFF"/>
                  </a:solidFill>
                  <a:latin typeface="Arimo"/>
                  <a:ea typeface="Arimo"/>
                  <a:cs typeface="Arimo"/>
                  <a:sym typeface="Arimo"/>
                </a:rPr>
                <a:t>2</a:t>
              </a:r>
            </a:p>
          </p:txBody>
        </p:sp>
      </p:grpSp>
      <p:sp>
        <p:nvSpPr>
          <p:cNvPr name="TextBox 26" id="26"/>
          <p:cNvSpPr txBox="true"/>
          <p:nvPr/>
        </p:nvSpPr>
        <p:spPr>
          <a:xfrm rot="0">
            <a:off x="4472092" y="3814515"/>
            <a:ext cx="2494312" cy="791442"/>
          </a:xfrm>
          <a:prstGeom prst="rect">
            <a:avLst/>
          </a:prstGeom>
        </p:spPr>
        <p:txBody>
          <a:bodyPr anchor="t" rtlCol="false" tIns="0" lIns="0" bIns="0" rIns="0">
            <a:spAutoFit/>
          </a:bodyPr>
          <a:lstStyle/>
          <a:p>
            <a:pPr algn="l">
              <a:lnSpc>
                <a:spcPts val="2809"/>
              </a:lnSpc>
            </a:pPr>
            <a:r>
              <a:rPr lang="en-US" sz="2250">
                <a:solidFill>
                  <a:srgbClr val="403011"/>
                </a:solidFill>
                <a:latin typeface="Arimo"/>
                <a:ea typeface="Arimo"/>
                <a:cs typeface="Arimo"/>
                <a:sym typeface="Arimo"/>
              </a:rPr>
              <a:t>Advanced Prediction</a:t>
            </a:r>
          </a:p>
        </p:txBody>
      </p:sp>
      <p:sp>
        <p:nvSpPr>
          <p:cNvPr name="TextBox 27" id="27"/>
          <p:cNvSpPr txBox="true"/>
          <p:nvPr/>
        </p:nvSpPr>
        <p:spPr>
          <a:xfrm rot="0">
            <a:off x="4472092" y="4589231"/>
            <a:ext cx="2494312" cy="1851422"/>
          </a:xfrm>
          <a:prstGeom prst="rect">
            <a:avLst/>
          </a:prstGeom>
        </p:spPr>
        <p:txBody>
          <a:bodyPr anchor="t" rtlCol="false" tIns="0" lIns="0" bIns="0" rIns="0">
            <a:spAutoFit/>
          </a:bodyPr>
          <a:lstStyle/>
          <a:p>
            <a:pPr algn="l">
              <a:lnSpc>
                <a:spcPts val="2637"/>
              </a:lnSpc>
            </a:pPr>
            <a:r>
              <a:rPr lang="en-US" sz="1800">
                <a:solidFill>
                  <a:srgbClr val="403011"/>
                </a:solidFill>
                <a:latin typeface="Arimo"/>
                <a:ea typeface="Arimo"/>
                <a:cs typeface="Arimo"/>
                <a:sym typeface="Arimo"/>
              </a:rPr>
              <a:t>Improved performance forecasting and early-warning for at-risk students.</a:t>
            </a:r>
          </a:p>
        </p:txBody>
      </p:sp>
      <p:sp>
        <p:nvSpPr>
          <p:cNvPr name="Freeform 28" id="28" descr="preencoded.png"/>
          <p:cNvSpPr/>
          <p:nvPr/>
        </p:nvSpPr>
        <p:spPr>
          <a:xfrm flipH="false" flipV="false" rot="0">
            <a:off x="7424404" y="2931824"/>
            <a:ext cx="3021111" cy="3772319"/>
          </a:xfrm>
          <a:custGeom>
            <a:avLst/>
            <a:gdLst/>
            <a:ahLst/>
            <a:cxnLst/>
            <a:rect r="r" b="b" t="t" l="l"/>
            <a:pathLst>
              <a:path h="3772319" w="3021111">
                <a:moveTo>
                  <a:pt x="0" y="0"/>
                </a:moveTo>
                <a:lnTo>
                  <a:pt x="3021111" y="0"/>
                </a:lnTo>
                <a:lnTo>
                  <a:pt x="3021111" y="3772319"/>
                </a:lnTo>
                <a:lnTo>
                  <a:pt x="0" y="3772319"/>
                </a:lnTo>
                <a:lnTo>
                  <a:pt x="0" y="0"/>
                </a:lnTo>
                <a:close/>
              </a:path>
            </a:pathLst>
          </a:custGeom>
          <a:blipFill>
            <a:blip r:embed="rId12">
              <a:extLst>
                <a:ext uri="{96DAC541-7B7A-43D3-8B79-37D633B846F1}">
                  <asvg:svgBlip xmlns:asvg="http://schemas.microsoft.com/office/drawing/2016/SVG/main" r:embed="rId13"/>
                </a:ext>
              </a:extLst>
            </a:blip>
            <a:stretch>
              <a:fillRect l="-9" t="0" r="-8" b="0"/>
            </a:stretch>
          </a:blipFill>
        </p:spPr>
      </p:sp>
      <p:grpSp>
        <p:nvGrpSpPr>
          <p:cNvPr name="Group 29" id="29"/>
          <p:cNvGrpSpPr/>
          <p:nvPr/>
        </p:nvGrpSpPr>
        <p:grpSpPr>
          <a:xfrm rot="0">
            <a:off x="8793985" y="3108027"/>
            <a:ext cx="281940" cy="352406"/>
            <a:chOff x="0" y="0"/>
            <a:chExt cx="375920" cy="469875"/>
          </a:xfrm>
        </p:grpSpPr>
        <p:sp>
          <p:nvSpPr>
            <p:cNvPr name="Freeform 30" id="30"/>
            <p:cNvSpPr/>
            <p:nvPr/>
          </p:nvSpPr>
          <p:spPr>
            <a:xfrm flipH="false" flipV="false" rot="0">
              <a:off x="0" y="0"/>
              <a:ext cx="375920" cy="469900"/>
            </a:xfrm>
            <a:custGeom>
              <a:avLst/>
              <a:gdLst/>
              <a:ahLst/>
              <a:cxnLst/>
              <a:rect r="r" b="b" t="t" l="l"/>
              <a:pathLst>
                <a:path h="469900" w="375920">
                  <a:moveTo>
                    <a:pt x="0" y="0"/>
                  </a:moveTo>
                  <a:lnTo>
                    <a:pt x="375920" y="0"/>
                  </a:lnTo>
                  <a:lnTo>
                    <a:pt x="375920" y="469900"/>
                  </a:lnTo>
                  <a:lnTo>
                    <a:pt x="0" y="469900"/>
                  </a:lnTo>
                  <a:close/>
                </a:path>
              </a:pathLst>
            </a:custGeom>
            <a:blipFill>
              <a:blip r:embed="rId8">
                <a:alphaModFix amt="0"/>
              </a:blip>
              <a:stretch>
                <a:fillRect l="-110479" t="0" r="-110483" b="5"/>
              </a:stretch>
            </a:blipFill>
          </p:spPr>
        </p:sp>
      </p:grpSp>
      <p:grpSp>
        <p:nvGrpSpPr>
          <p:cNvPr name="Group 31" id="31"/>
          <p:cNvGrpSpPr/>
          <p:nvPr/>
        </p:nvGrpSpPr>
        <p:grpSpPr>
          <a:xfrm rot="0">
            <a:off x="8793985" y="3093739"/>
            <a:ext cx="281940" cy="366693"/>
            <a:chOff x="0" y="0"/>
            <a:chExt cx="375920" cy="488925"/>
          </a:xfrm>
        </p:grpSpPr>
        <p:sp>
          <p:nvSpPr>
            <p:cNvPr name="Freeform 32" id="32"/>
            <p:cNvSpPr/>
            <p:nvPr/>
          </p:nvSpPr>
          <p:spPr>
            <a:xfrm flipH="false" flipV="false" rot="0">
              <a:off x="0" y="0"/>
              <a:ext cx="375920" cy="488925"/>
            </a:xfrm>
            <a:custGeom>
              <a:avLst/>
              <a:gdLst/>
              <a:ahLst/>
              <a:cxnLst/>
              <a:rect r="r" b="b" t="t" l="l"/>
              <a:pathLst>
                <a:path h="488925" w="375920">
                  <a:moveTo>
                    <a:pt x="0" y="0"/>
                  </a:moveTo>
                  <a:lnTo>
                    <a:pt x="375920" y="0"/>
                  </a:lnTo>
                  <a:lnTo>
                    <a:pt x="375920" y="488925"/>
                  </a:lnTo>
                  <a:lnTo>
                    <a:pt x="0" y="488925"/>
                  </a:lnTo>
                  <a:close/>
                </a:path>
              </a:pathLst>
            </a:custGeom>
            <a:blipFill>
              <a:blip r:embed="rId9">
                <a:alphaModFix amt="0"/>
              </a:blip>
              <a:stretch>
                <a:fillRect l="-116872" t="0" r="-116872" b="0"/>
              </a:stretch>
            </a:blipFill>
          </p:spPr>
        </p:sp>
        <p:sp>
          <p:nvSpPr>
            <p:cNvPr name="TextBox 33" id="33"/>
            <p:cNvSpPr txBox="true"/>
            <p:nvPr/>
          </p:nvSpPr>
          <p:spPr>
            <a:xfrm>
              <a:off x="0" y="-19050"/>
              <a:ext cx="375920" cy="507975"/>
            </a:xfrm>
            <a:prstGeom prst="rect">
              <a:avLst/>
            </a:prstGeom>
          </p:spPr>
          <p:txBody>
            <a:bodyPr anchor="ctr" rtlCol="false" tIns="0" lIns="0" bIns="0" rIns="0"/>
            <a:lstStyle/>
            <a:p>
              <a:pPr algn="ctr">
                <a:lnSpc>
                  <a:spcPts val="2612"/>
                </a:lnSpc>
              </a:pPr>
              <a:r>
                <a:rPr lang="en-US" sz="2175">
                  <a:solidFill>
                    <a:srgbClr val="000000"/>
                  </a:solidFill>
                  <a:latin typeface="Arimo"/>
                  <a:ea typeface="Arimo"/>
                  <a:cs typeface="Arimo"/>
                  <a:sym typeface="Arimo"/>
                </a:rPr>
                <a:t>3</a:t>
              </a:r>
            </a:p>
          </p:txBody>
        </p:sp>
      </p:grpSp>
      <p:sp>
        <p:nvSpPr>
          <p:cNvPr name="TextBox 34" id="34"/>
          <p:cNvSpPr txBox="true"/>
          <p:nvPr/>
        </p:nvSpPr>
        <p:spPr>
          <a:xfrm rot="0">
            <a:off x="7687875" y="3814515"/>
            <a:ext cx="2494159" cy="791442"/>
          </a:xfrm>
          <a:prstGeom prst="rect">
            <a:avLst/>
          </a:prstGeom>
        </p:spPr>
        <p:txBody>
          <a:bodyPr anchor="t" rtlCol="false" tIns="0" lIns="0" bIns="0" rIns="0">
            <a:spAutoFit/>
          </a:bodyPr>
          <a:lstStyle/>
          <a:p>
            <a:pPr algn="l">
              <a:lnSpc>
                <a:spcPts val="2809"/>
              </a:lnSpc>
            </a:pPr>
            <a:r>
              <a:rPr lang="en-US" sz="2250">
                <a:solidFill>
                  <a:srgbClr val="403011"/>
                </a:solidFill>
                <a:latin typeface="Arimo"/>
                <a:ea typeface="Arimo"/>
                <a:cs typeface="Arimo"/>
                <a:sym typeface="Arimo"/>
              </a:rPr>
              <a:t>Additional Exams &amp; Mobile App</a:t>
            </a:r>
          </a:p>
        </p:txBody>
      </p:sp>
      <p:sp>
        <p:nvSpPr>
          <p:cNvPr name="TextBox 35" id="35"/>
          <p:cNvSpPr txBox="true"/>
          <p:nvPr/>
        </p:nvSpPr>
        <p:spPr>
          <a:xfrm rot="0">
            <a:off x="7687875" y="4589231"/>
            <a:ext cx="2494159" cy="1507807"/>
          </a:xfrm>
          <a:prstGeom prst="rect">
            <a:avLst/>
          </a:prstGeom>
        </p:spPr>
        <p:txBody>
          <a:bodyPr anchor="t" rtlCol="false" tIns="0" lIns="0" bIns="0" rIns="0">
            <a:spAutoFit/>
          </a:bodyPr>
          <a:lstStyle/>
          <a:p>
            <a:pPr algn="l">
              <a:lnSpc>
                <a:spcPts val="2637"/>
              </a:lnSpc>
            </a:pPr>
            <a:r>
              <a:rPr lang="en-US" sz="1800">
                <a:solidFill>
                  <a:srgbClr val="403011"/>
                </a:solidFill>
                <a:latin typeface="Arimo"/>
                <a:ea typeface="Arimo"/>
                <a:cs typeface="Arimo"/>
                <a:sym typeface="Arimo"/>
              </a:rPr>
              <a:t>Scale to more exam types and deliver native mobile experiences.</a:t>
            </a:r>
          </a:p>
        </p:txBody>
      </p:sp>
      <p:sp>
        <p:nvSpPr>
          <p:cNvPr name="Freeform 36" id="36" descr="preencoded.png"/>
          <p:cNvSpPr/>
          <p:nvPr/>
        </p:nvSpPr>
        <p:spPr>
          <a:xfrm flipH="false" flipV="false" rot="0">
            <a:off x="992991" y="6898662"/>
            <a:ext cx="9452524" cy="2030711"/>
          </a:xfrm>
          <a:custGeom>
            <a:avLst/>
            <a:gdLst/>
            <a:ahLst/>
            <a:cxnLst/>
            <a:rect r="r" b="b" t="t" l="l"/>
            <a:pathLst>
              <a:path h="2030711" w="9452524">
                <a:moveTo>
                  <a:pt x="0" y="0"/>
                </a:moveTo>
                <a:lnTo>
                  <a:pt x="9452524" y="0"/>
                </a:lnTo>
                <a:lnTo>
                  <a:pt x="9452524" y="2030711"/>
                </a:lnTo>
                <a:lnTo>
                  <a:pt x="0" y="2030711"/>
                </a:lnTo>
                <a:lnTo>
                  <a:pt x="0" y="0"/>
                </a:lnTo>
                <a:close/>
              </a:path>
            </a:pathLst>
          </a:custGeom>
          <a:blipFill>
            <a:blip r:embed="rId14">
              <a:extLst>
                <a:ext uri="{96DAC541-7B7A-43D3-8B79-37D633B846F1}">
                  <asvg:svgBlip xmlns:asvg="http://schemas.microsoft.com/office/drawing/2016/SVG/main" r:embed="rId15"/>
                </a:ext>
              </a:extLst>
            </a:blip>
            <a:stretch>
              <a:fillRect l="0" t="-391" r="0" b="-391"/>
            </a:stretch>
          </a:blipFill>
        </p:spPr>
      </p:sp>
      <p:grpSp>
        <p:nvGrpSpPr>
          <p:cNvPr name="Group 37" id="37"/>
          <p:cNvGrpSpPr/>
          <p:nvPr/>
        </p:nvGrpSpPr>
        <p:grpSpPr>
          <a:xfrm rot="0">
            <a:off x="5578202" y="7074865"/>
            <a:ext cx="281940" cy="352406"/>
            <a:chOff x="0" y="0"/>
            <a:chExt cx="375920" cy="469875"/>
          </a:xfrm>
        </p:grpSpPr>
        <p:sp>
          <p:nvSpPr>
            <p:cNvPr name="Freeform 38" id="38"/>
            <p:cNvSpPr/>
            <p:nvPr/>
          </p:nvSpPr>
          <p:spPr>
            <a:xfrm flipH="false" flipV="false" rot="0">
              <a:off x="0" y="0"/>
              <a:ext cx="375920" cy="469900"/>
            </a:xfrm>
            <a:custGeom>
              <a:avLst/>
              <a:gdLst/>
              <a:ahLst/>
              <a:cxnLst/>
              <a:rect r="r" b="b" t="t" l="l"/>
              <a:pathLst>
                <a:path h="469900" w="375920">
                  <a:moveTo>
                    <a:pt x="0" y="0"/>
                  </a:moveTo>
                  <a:lnTo>
                    <a:pt x="375920" y="0"/>
                  </a:lnTo>
                  <a:lnTo>
                    <a:pt x="375920" y="469900"/>
                  </a:lnTo>
                  <a:lnTo>
                    <a:pt x="0" y="469900"/>
                  </a:lnTo>
                  <a:close/>
                </a:path>
              </a:pathLst>
            </a:custGeom>
            <a:blipFill>
              <a:blip r:embed="rId8">
                <a:alphaModFix amt="0"/>
              </a:blip>
              <a:stretch>
                <a:fillRect l="-110479" t="0" r="-110483" b="5"/>
              </a:stretch>
            </a:blipFill>
          </p:spPr>
        </p:sp>
      </p:grpSp>
      <p:grpSp>
        <p:nvGrpSpPr>
          <p:cNvPr name="Group 39" id="39"/>
          <p:cNvGrpSpPr/>
          <p:nvPr/>
        </p:nvGrpSpPr>
        <p:grpSpPr>
          <a:xfrm rot="0">
            <a:off x="5578202" y="7060578"/>
            <a:ext cx="281940" cy="366693"/>
            <a:chOff x="0" y="0"/>
            <a:chExt cx="375920" cy="488925"/>
          </a:xfrm>
        </p:grpSpPr>
        <p:sp>
          <p:nvSpPr>
            <p:cNvPr name="Freeform 40" id="40"/>
            <p:cNvSpPr/>
            <p:nvPr/>
          </p:nvSpPr>
          <p:spPr>
            <a:xfrm flipH="false" flipV="false" rot="0">
              <a:off x="0" y="0"/>
              <a:ext cx="375920" cy="488925"/>
            </a:xfrm>
            <a:custGeom>
              <a:avLst/>
              <a:gdLst/>
              <a:ahLst/>
              <a:cxnLst/>
              <a:rect r="r" b="b" t="t" l="l"/>
              <a:pathLst>
                <a:path h="488925" w="375920">
                  <a:moveTo>
                    <a:pt x="0" y="0"/>
                  </a:moveTo>
                  <a:lnTo>
                    <a:pt x="375920" y="0"/>
                  </a:lnTo>
                  <a:lnTo>
                    <a:pt x="375920" y="488925"/>
                  </a:lnTo>
                  <a:lnTo>
                    <a:pt x="0" y="488925"/>
                  </a:lnTo>
                  <a:close/>
                </a:path>
              </a:pathLst>
            </a:custGeom>
            <a:blipFill>
              <a:blip r:embed="rId9">
                <a:alphaModFix amt="0"/>
              </a:blip>
              <a:stretch>
                <a:fillRect l="-116872" t="0" r="-116872" b="0"/>
              </a:stretch>
            </a:blipFill>
          </p:spPr>
        </p:sp>
        <p:sp>
          <p:nvSpPr>
            <p:cNvPr name="TextBox 41" id="41"/>
            <p:cNvSpPr txBox="true"/>
            <p:nvPr/>
          </p:nvSpPr>
          <p:spPr>
            <a:xfrm>
              <a:off x="0" y="-19050"/>
              <a:ext cx="375920" cy="507975"/>
            </a:xfrm>
            <a:prstGeom prst="rect">
              <a:avLst/>
            </a:prstGeom>
          </p:spPr>
          <p:txBody>
            <a:bodyPr anchor="ctr" rtlCol="false" tIns="0" lIns="0" bIns="0" rIns="0"/>
            <a:lstStyle/>
            <a:p>
              <a:pPr algn="ctr">
                <a:lnSpc>
                  <a:spcPts val="2612"/>
                </a:lnSpc>
              </a:pPr>
              <a:r>
                <a:rPr lang="en-US" sz="2175">
                  <a:solidFill>
                    <a:srgbClr val="000000"/>
                  </a:solidFill>
                  <a:latin typeface="Arimo"/>
                  <a:ea typeface="Arimo"/>
                  <a:cs typeface="Arimo"/>
                  <a:sym typeface="Arimo"/>
                </a:rPr>
                <a:t>4</a:t>
              </a:r>
            </a:p>
          </p:txBody>
        </p:sp>
      </p:grpSp>
      <p:sp>
        <p:nvSpPr>
          <p:cNvPr name="TextBox 42" id="42"/>
          <p:cNvSpPr txBox="true"/>
          <p:nvPr/>
        </p:nvSpPr>
        <p:spPr>
          <a:xfrm rot="0">
            <a:off x="1256462" y="7781354"/>
            <a:ext cx="8925573" cy="424301"/>
          </a:xfrm>
          <a:prstGeom prst="rect">
            <a:avLst/>
          </a:prstGeom>
        </p:spPr>
        <p:txBody>
          <a:bodyPr anchor="t" rtlCol="false" tIns="0" lIns="0" bIns="0" rIns="0">
            <a:spAutoFit/>
          </a:bodyPr>
          <a:lstStyle/>
          <a:p>
            <a:pPr algn="l">
              <a:lnSpc>
                <a:spcPts val="2809"/>
              </a:lnSpc>
            </a:pPr>
            <a:r>
              <a:rPr lang="en-US" sz="2250">
                <a:solidFill>
                  <a:srgbClr val="403011"/>
                </a:solidFill>
                <a:latin typeface="Arimo"/>
                <a:ea typeface="Arimo"/>
                <a:cs typeface="Arimo"/>
                <a:sym typeface="Arimo"/>
              </a:rPr>
              <a:t>Recommendation Enhancements</a:t>
            </a:r>
          </a:p>
        </p:txBody>
      </p:sp>
      <p:sp>
        <p:nvSpPr>
          <p:cNvPr name="TextBox 43" id="43"/>
          <p:cNvSpPr txBox="true"/>
          <p:nvPr/>
        </p:nvSpPr>
        <p:spPr>
          <a:xfrm rot="0">
            <a:off x="1256462" y="8188928"/>
            <a:ext cx="8925573" cy="476964"/>
          </a:xfrm>
          <a:prstGeom prst="rect">
            <a:avLst/>
          </a:prstGeom>
        </p:spPr>
        <p:txBody>
          <a:bodyPr anchor="t" rtlCol="false" tIns="0" lIns="0" bIns="0" rIns="0">
            <a:spAutoFit/>
          </a:bodyPr>
          <a:lstStyle/>
          <a:p>
            <a:pPr algn="l">
              <a:lnSpc>
                <a:spcPts val="2637"/>
              </a:lnSpc>
            </a:pPr>
            <a:r>
              <a:rPr lang="en-US" sz="1800">
                <a:solidFill>
                  <a:srgbClr val="403011"/>
                </a:solidFill>
                <a:latin typeface="Arimo"/>
                <a:ea typeface="Arimo"/>
                <a:cs typeface="Arimo"/>
                <a:sym typeface="Arimo"/>
              </a:rPr>
              <a:t>Stronger personalization through hybrid models and richer feature engineering.</a:t>
            </a:r>
          </a:p>
        </p:txBody>
      </p:sp>
      <p:sp>
        <p:nvSpPr>
          <p:cNvPr name="TextBox 44" id="44"/>
          <p:cNvSpPr txBox="true"/>
          <p:nvPr/>
        </p:nvSpPr>
        <p:spPr>
          <a:xfrm rot="0">
            <a:off x="535438" y="9014822"/>
            <a:ext cx="10367762" cy="476964"/>
          </a:xfrm>
          <a:prstGeom prst="rect">
            <a:avLst/>
          </a:prstGeom>
        </p:spPr>
        <p:txBody>
          <a:bodyPr anchor="t" rtlCol="false" tIns="0" lIns="0" bIns="0" rIns="0">
            <a:spAutoFit/>
          </a:bodyPr>
          <a:lstStyle/>
          <a:p>
            <a:pPr algn="ctr">
              <a:lnSpc>
                <a:spcPts val="2637"/>
              </a:lnSpc>
            </a:pPr>
            <a:r>
              <a:rPr lang="en-US" sz="1800" b="true">
                <a:solidFill>
                  <a:srgbClr val="403011"/>
                </a:solidFill>
                <a:latin typeface="Arimo Bold"/>
                <a:ea typeface="Arimo Bold"/>
                <a:cs typeface="Arimo Bold"/>
                <a:sym typeface="Arimo Bold"/>
              </a:rPr>
              <a:t>Thank you</a:t>
            </a:r>
            <a:r>
              <a:rPr lang="en-US" sz="1800">
                <a:solidFill>
                  <a:srgbClr val="403011"/>
                </a:solidFill>
                <a:latin typeface="Arimo"/>
                <a:ea typeface="Arimo"/>
                <a:cs typeface="Arimo"/>
                <a:sym typeface="Arimo"/>
              </a:rPr>
              <a:t> — Questions &amp; Feedback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DAHT7-pe8go</dc:identifier>
  <dcterms:modified xsi:type="dcterms:W3CDTF">2011-08-01T06:04:30Z</dcterms:modified>
  <cp:revision>1</cp:revision>
  <dc:title>DOC-20260901-WA0009.pptx</dc:title>
</cp:coreProperties>
</file>